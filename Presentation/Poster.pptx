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27360563" cy="385206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58135E-2EDD-C058-9E86-E40FD179B8F5}" name="稼禾 田" initials="稼田" userId="05392933318ae87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854"/>
    <p:restoredTop sz="96197"/>
  </p:normalViewPr>
  <p:slideViewPr>
    <p:cSldViewPr snapToGrid="0">
      <p:cViewPr>
        <p:scale>
          <a:sx n="30" d="100"/>
          <a:sy n="30" d="100"/>
        </p:scale>
        <p:origin x="5144" y="144"/>
      </p:cViewPr>
      <p:guideLst/>
    </p:cSldViewPr>
  </p:slideViewPr>
  <p:notesTextViewPr>
    <p:cViewPr>
      <p:scale>
        <a:sx n="1" d="1"/>
        <a:sy n="1" d="1"/>
      </p:scale>
      <p:origin x="0" y="-48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8771E-6F09-3A46-B7DD-6CC5D2D2EA3A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3625" y="1143000"/>
            <a:ext cx="2190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8E58B-9292-704A-8BE4-EEB0020EAA9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52070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farm family: adults children, genders, age period </a:t>
            </a:r>
          </a:p>
          <a:p>
            <a:r>
              <a:rPr lang="en-CN" dirty="0"/>
              <a:t>x human , should be farm family</a:t>
            </a:r>
          </a:p>
          <a:p>
            <a:r>
              <a:rPr lang="en-CN" dirty="0"/>
              <a:t>make clear it’s not diary cow,</a:t>
            </a:r>
          </a:p>
          <a:p>
            <a:r>
              <a:rPr lang="en-CN" dirty="0"/>
              <a:t>make the arrows clear</a:t>
            </a:r>
          </a:p>
          <a:p>
            <a:r>
              <a:rPr lang="en-CN" dirty="0"/>
              <a:t>WWTP biosolids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8E58B-9292-704A-8BE4-EEB0020EAA9B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3012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2042" y="6304199"/>
            <a:ext cx="23256479" cy="13410906"/>
          </a:xfrm>
        </p:spPr>
        <p:txBody>
          <a:bodyPr anchor="b"/>
          <a:lstStyle>
            <a:lvl1pPr algn="ctr">
              <a:defRPr sz="179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0071" y="20232281"/>
            <a:ext cx="20520422" cy="9300247"/>
          </a:xfrm>
        </p:spPr>
        <p:txBody>
          <a:bodyPr/>
          <a:lstStyle>
            <a:lvl1pPr marL="0" indent="0" algn="ctr">
              <a:buNone/>
              <a:defRPr sz="7181"/>
            </a:lvl1pPr>
            <a:lvl2pPr marL="1368034" indent="0" algn="ctr">
              <a:buNone/>
              <a:defRPr sz="5984"/>
            </a:lvl2pPr>
            <a:lvl3pPr marL="2736068" indent="0" algn="ctr">
              <a:buNone/>
              <a:defRPr sz="5386"/>
            </a:lvl3pPr>
            <a:lvl4pPr marL="4104102" indent="0" algn="ctr">
              <a:buNone/>
              <a:defRPr sz="4788"/>
            </a:lvl4pPr>
            <a:lvl5pPr marL="5472135" indent="0" algn="ctr">
              <a:buNone/>
              <a:defRPr sz="4788"/>
            </a:lvl5pPr>
            <a:lvl6pPr marL="6840169" indent="0" algn="ctr">
              <a:buNone/>
              <a:defRPr sz="4788"/>
            </a:lvl6pPr>
            <a:lvl7pPr marL="8208203" indent="0" algn="ctr">
              <a:buNone/>
              <a:defRPr sz="4788"/>
            </a:lvl7pPr>
            <a:lvl8pPr marL="9576237" indent="0" algn="ctr">
              <a:buNone/>
              <a:defRPr sz="4788"/>
            </a:lvl8pPr>
            <a:lvl9pPr marL="10944271" indent="0" algn="ctr">
              <a:buNone/>
              <a:defRPr sz="47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5404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492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790" y="9603433"/>
            <a:ext cx="23598486" cy="16023533"/>
          </a:xfrm>
        </p:spPr>
        <p:txBody>
          <a:bodyPr anchor="b"/>
          <a:lstStyle>
            <a:lvl1pPr>
              <a:defRPr sz="1795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66790" y="25778555"/>
            <a:ext cx="23598486" cy="8426398"/>
          </a:xfrm>
        </p:spPr>
        <p:txBody>
          <a:bodyPr/>
          <a:lstStyle>
            <a:lvl1pPr marL="0" indent="0">
              <a:buNone/>
              <a:defRPr sz="7181">
                <a:solidFill>
                  <a:schemeClr val="tx1">
                    <a:tint val="82000"/>
                  </a:schemeClr>
                </a:solidFill>
              </a:defRPr>
            </a:lvl1pPr>
            <a:lvl2pPr marL="1368034" indent="0">
              <a:buNone/>
              <a:defRPr sz="5984">
                <a:solidFill>
                  <a:schemeClr val="tx1">
                    <a:tint val="82000"/>
                  </a:schemeClr>
                </a:solidFill>
              </a:defRPr>
            </a:lvl2pPr>
            <a:lvl3pPr marL="2736068" indent="0">
              <a:buNone/>
              <a:defRPr sz="5386">
                <a:solidFill>
                  <a:schemeClr val="tx1">
                    <a:tint val="82000"/>
                  </a:schemeClr>
                </a:solidFill>
              </a:defRPr>
            </a:lvl3pPr>
            <a:lvl4pPr marL="4104102" indent="0">
              <a:buNone/>
              <a:defRPr sz="4788">
                <a:solidFill>
                  <a:schemeClr val="tx1">
                    <a:tint val="82000"/>
                  </a:schemeClr>
                </a:solidFill>
              </a:defRPr>
            </a:lvl4pPr>
            <a:lvl5pPr marL="5472135" indent="0">
              <a:buNone/>
              <a:defRPr sz="4788">
                <a:solidFill>
                  <a:schemeClr val="tx1">
                    <a:tint val="82000"/>
                  </a:schemeClr>
                </a:solidFill>
              </a:defRPr>
            </a:lvl5pPr>
            <a:lvl6pPr marL="6840169" indent="0">
              <a:buNone/>
              <a:defRPr sz="4788">
                <a:solidFill>
                  <a:schemeClr val="tx1">
                    <a:tint val="82000"/>
                  </a:schemeClr>
                </a:solidFill>
              </a:defRPr>
            </a:lvl6pPr>
            <a:lvl7pPr marL="8208203" indent="0">
              <a:buNone/>
              <a:defRPr sz="4788">
                <a:solidFill>
                  <a:schemeClr val="tx1">
                    <a:tint val="82000"/>
                  </a:schemeClr>
                </a:solidFill>
              </a:defRPr>
            </a:lvl7pPr>
            <a:lvl8pPr marL="9576237" indent="0">
              <a:buNone/>
              <a:defRPr sz="4788">
                <a:solidFill>
                  <a:schemeClr val="tx1">
                    <a:tint val="82000"/>
                  </a:schemeClr>
                </a:solidFill>
              </a:defRPr>
            </a:lvl8pPr>
            <a:lvl9pPr marL="10944271" indent="0">
              <a:buNone/>
              <a:defRPr sz="47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9601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1039" y="10254350"/>
            <a:ext cx="11628239" cy="24441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1285" y="10254350"/>
            <a:ext cx="11628239" cy="24441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9048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602" y="2050879"/>
            <a:ext cx="23598486" cy="74455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4605" y="9442921"/>
            <a:ext cx="11574799" cy="4627830"/>
          </a:xfrm>
        </p:spPr>
        <p:txBody>
          <a:bodyPr anchor="b"/>
          <a:lstStyle>
            <a:lvl1pPr marL="0" indent="0">
              <a:buNone/>
              <a:defRPr sz="7181" b="1"/>
            </a:lvl1pPr>
            <a:lvl2pPr marL="1368034" indent="0">
              <a:buNone/>
              <a:defRPr sz="5984" b="1"/>
            </a:lvl2pPr>
            <a:lvl3pPr marL="2736068" indent="0">
              <a:buNone/>
              <a:defRPr sz="5386" b="1"/>
            </a:lvl3pPr>
            <a:lvl4pPr marL="4104102" indent="0">
              <a:buNone/>
              <a:defRPr sz="4788" b="1"/>
            </a:lvl4pPr>
            <a:lvl5pPr marL="5472135" indent="0">
              <a:buNone/>
              <a:defRPr sz="4788" b="1"/>
            </a:lvl5pPr>
            <a:lvl6pPr marL="6840169" indent="0">
              <a:buNone/>
              <a:defRPr sz="4788" b="1"/>
            </a:lvl6pPr>
            <a:lvl7pPr marL="8208203" indent="0">
              <a:buNone/>
              <a:defRPr sz="4788" b="1"/>
            </a:lvl7pPr>
            <a:lvl8pPr marL="9576237" indent="0">
              <a:buNone/>
              <a:defRPr sz="4788" b="1"/>
            </a:lvl8pPr>
            <a:lvl9pPr marL="10944271" indent="0">
              <a:buNone/>
              <a:defRPr sz="47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4605" y="14070751"/>
            <a:ext cx="11574799" cy="20695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51287" y="9442921"/>
            <a:ext cx="11631803" cy="4627830"/>
          </a:xfrm>
        </p:spPr>
        <p:txBody>
          <a:bodyPr anchor="b"/>
          <a:lstStyle>
            <a:lvl1pPr marL="0" indent="0">
              <a:buNone/>
              <a:defRPr sz="7181" b="1"/>
            </a:lvl1pPr>
            <a:lvl2pPr marL="1368034" indent="0">
              <a:buNone/>
              <a:defRPr sz="5984" b="1"/>
            </a:lvl2pPr>
            <a:lvl3pPr marL="2736068" indent="0">
              <a:buNone/>
              <a:defRPr sz="5386" b="1"/>
            </a:lvl3pPr>
            <a:lvl4pPr marL="4104102" indent="0">
              <a:buNone/>
              <a:defRPr sz="4788" b="1"/>
            </a:lvl4pPr>
            <a:lvl5pPr marL="5472135" indent="0">
              <a:buNone/>
              <a:defRPr sz="4788" b="1"/>
            </a:lvl5pPr>
            <a:lvl6pPr marL="6840169" indent="0">
              <a:buNone/>
              <a:defRPr sz="4788" b="1"/>
            </a:lvl6pPr>
            <a:lvl7pPr marL="8208203" indent="0">
              <a:buNone/>
              <a:defRPr sz="4788" b="1"/>
            </a:lvl7pPr>
            <a:lvl8pPr marL="9576237" indent="0">
              <a:buNone/>
              <a:defRPr sz="4788" b="1"/>
            </a:lvl8pPr>
            <a:lvl9pPr marL="10944271" indent="0">
              <a:buNone/>
              <a:defRPr sz="47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51287" y="14070751"/>
            <a:ext cx="11631803" cy="20695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04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176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7029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602" y="2568046"/>
            <a:ext cx="8824494" cy="8988161"/>
          </a:xfrm>
        </p:spPr>
        <p:txBody>
          <a:bodyPr anchor="b"/>
          <a:lstStyle>
            <a:lvl1pPr>
              <a:defRPr sz="9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31803" y="5546274"/>
            <a:ext cx="13851285" cy="27374656"/>
          </a:xfrm>
        </p:spPr>
        <p:txBody>
          <a:bodyPr/>
          <a:lstStyle>
            <a:lvl1pPr>
              <a:defRPr sz="9575"/>
            </a:lvl1pPr>
            <a:lvl2pPr>
              <a:defRPr sz="8378"/>
            </a:lvl2pPr>
            <a:lvl3pPr>
              <a:defRPr sz="7181"/>
            </a:lvl3pPr>
            <a:lvl4pPr>
              <a:defRPr sz="5984"/>
            </a:lvl4pPr>
            <a:lvl5pPr>
              <a:defRPr sz="5984"/>
            </a:lvl5pPr>
            <a:lvl6pPr>
              <a:defRPr sz="5984"/>
            </a:lvl6pPr>
            <a:lvl7pPr>
              <a:defRPr sz="5984"/>
            </a:lvl7pPr>
            <a:lvl8pPr>
              <a:defRPr sz="5984"/>
            </a:lvl8pPr>
            <a:lvl9pPr>
              <a:defRPr sz="59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4602" y="11556206"/>
            <a:ext cx="8824494" cy="21409302"/>
          </a:xfrm>
        </p:spPr>
        <p:txBody>
          <a:bodyPr/>
          <a:lstStyle>
            <a:lvl1pPr marL="0" indent="0">
              <a:buNone/>
              <a:defRPr sz="4788"/>
            </a:lvl1pPr>
            <a:lvl2pPr marL="1368034" indent="0">
              <a:buNone/>
              <a:defRPr sz="4189"/>
            </a:lvl2pPr>
            <a:lvl3pPr marL="2736068" indent="0">
              <a:buNone/>
              <a:defRPr sz="3591"/>
            </a:lvl3pPr>
            <a:lvl4pPr marL="4104102" indent="0">
              <a:buNone/>
              <a:defRPr sz="2992"/>
            </a:lvl4pPr>
            <a:lvl5pPr marL="5472135" indent="0">
              <a:buNone/>
              <a:defRPr sz="2992"/>
            </a:lvl5pPr>
            <a:lvl6pPr marL="6840169" indent="0">
              <a:buNone/>
              <a:defRPr sz="2992"/>
            </a:lvl6pPr>
            <a:lvl7pPr marL="8208203" indent="0">
              <a:buNone/>
              <a:defRPr sz="2992"/>
            </a:lvl7pPr>
            <a:lvl8pPr marL="9576237" indent="0">
              <a:buNone/>
              <a:defRPr sz="2992"/>
            </a:lvl8pPr>
            <a:lvl9pPr marL="10944271" indent="0">
              <a:buNone/>
              <a:defRPr sz="2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58391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602" y="2568046"/>
            <a:ext cx="8824494" cy="8988161"/>
          </a:xfrm>
        </p:spPr>
        <p:txBody>
          <a:bodyPr anchor="b"/>
          <a:lstStyle>
            <a:lvl1pPr>
              <a:defRPr sz="9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31803" y="5546274"/>
            <a:ext cx="13851285" cy="27374656"/>
          </a:xfrm>
        </p:spPr>
        <p:txBody>
          <a:bodyPr anchor="t"/>
          <a:lstStyle>
            <a:lvl1pPr marL="0" indent="0">
              <a:buNone/>
              <a:defRPr sz="9575"/>
            </a:lvl1pPr>
            <a:lvl2pPr marL="1368034" indent="0">
              <a:buNone/>
              <a:defRPr sz="8378"/>
            </a:lvl2pPr>
            <a:lvl3pPr marL="2736068" indent="0">
              <a:buNone/>
              <a:defRPr sz="7181"/>
            </a:lvl3pPr>
            <a:lvl4pPr marL="4104102" indent="0">
              <a:buNone/>
              <a:defRPr sz="5984"/>
            </a:lvl4pPr>
            <a:lvl5pPr marL="5472135" indent="0">
              <a:buNone/>
              <a:defRPr sz="5984"/>
            </a:lvl5pPr>
            <a:lvl6pPr marL="6840169" indent="0">
              <a:buNone/>
              <a:defRPr sz="5984"/>
            </a:lvl6pPr>
            <a:lvl7pPr marL="8208203" indent="0">
              <a:buNone/>
              <a:defRPr sz="5984"/>
            </a:lvl7pPr>
            <a:lvl8pPr marL="9576237" indent="0">
              <a:buNone/>
              <a:defRPr sz="5984"/>
            </a:lvl8pPr>
            <a:lvl9pPr marL="10944271" indent="0">
              <a:buNone/>
              <a:defRPr sz="598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4602" y="11556206"/>
            <a:ext cx="8824494" cy="21409302"/>
          </a:xfrm>
        </p:spPr>
        <p:txBody>
          <a:bodyPr/>
          <a:lstStyle>
            <a:lvl1pPr marL="0" indent="0">
              <a:buNone/>
              <a:defRPr sz="4788"/>
            </a:lvl1pPr>
            <a:lvl2pPr marL="1368034" indent="0">
              <a:buNone/>
              <a:defRPr sz="4189"/>
            </a:lvl2pPr>
            <a:lvl3pPr marL="2736068" indent="0">
              <a:buNone/>
              <a:defRPr sz="3591"/>
            </a:lvl3pPr>
            <a:lvl4pPr marL="4104102" indent="0">
              <a:buNone/>
              <a:defRPr sz="2992"/>
            </a:lvl4pPr>
            <a:lvl5pPr marL="5472135" indent="0">
              <a:buNone/>
              <a:defRPr sz="2992"/>
            </a:lvl5pPr>
            <a:lvl6pPr marL="6840169" indent="0">
              <a:buNone/>
              <a:defRPr sz="2992"/>
            </a:lvl6pPr>
            <a:lvl7pPr marL="8208203" indent="0">
              <a:buNone/>
              <a:defRPr sz="2992"/>
            </a:lvl7pPr>
            <a:lvl8pPr marL="9576237" indent="0">
              <a:buNone/>
              <a:defRPr sz="2992"/>
            </a:lvl8pPr>
            <a:lvl9pPr marL="10944271" indent="0">
              <a:buNone/>
              <a:defRPr sz="2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1009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7253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579905" y="2050870"/>
            <a:ext cx="5899621" cy="326445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1040" y="2050870"/>
            <a:ext cx="17356857" cy="326445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1443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1039" y="2050879"/>
            <a:ext cx="23598486" cy="7445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1039" y="10254350"/>
            <a:ext cx="23598486" cy="24441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1039" y="35702979"/>
            <a:ext cx="6156127" cy="20508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9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23FBA-58DD-7247-9E4C-B31A4942EA16}" type="datetimeFigureOut">
              <a:rPr lang="en-CN" smtClean="0"/>
              <a:t>2025/8/15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63187" y="35702979"/>
            <a:ext cx="9234190" cy="20508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9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23397" y="35702979"/>
            <a:ext cx="6156127" cy="20508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9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83367-35E5-024F-BFD5-9CE97DA78EA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63479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36068" rtl="0" eaLnBrk="1" latinLnBrk="0" hangingPunct="1">
        <a:lnSpc>
          <a:spcPct val="90000"/>
        </a:lnSpc>
        <a:spcBef>
          <a:spcPct val="0"/>
        </a:spcBef>
        <a:buNone/>
        <a:defRPr sz="131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4017" indent="-684017" algn="l" defTabSz="2736068" rtl="0" eaLnBrk="1" latinLnBrk="0" hangingPunct="1">
        <a:lnSpc>
          <a:spcPct val="90000"/>
        </a:lnSpc>
        <a:spcBef>
          <a:spcPts val="2992"/>
        </a:spcBef>
        <a:buFont typeface="Arial" panose="020B0604020202020204" pitchFamily="34" charset="0"/>
        <a:buChar char="•"/>
        <a:defRPr sz="8378" kern="1200">
          <a:solidFill>
            <a:schemeClr val="tx1"/>
          </a:solidFill>
          <a:latin typeface="+mn-lt"/>
          <a:ea typeface="+mn-ea"/>
          <a:cs typeface="+mn-cs"/>
        </a:defRPr>
      </a:lvl1pPr>
      <a:lvl2pPr marL="2052051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7181" kern="1200">
          <a:solidFill>
            <a:schemeClr val="tx1"/>
          </a:solidFill>
          <a:latin typeface="+mn-lt"/>
          <a:ea typeface="+mn-ea"/>
          <a:cs typeface="+mn-cs"/>
        </a:defRPr>
      </a:lvl2pPr>
      <a:lvl3pPr marL="3420085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984" kern="1200">
          <a:solidFill>
            <a:schemeClr val="tx1"/>
          </a:solidFill>
          <a:latin typeface="+mn-lt"/>
          <a:ea typeface="+mn-ea"/>
          <a:cs typeface="+mn-cs"/>
        </a:defRPr>
      </a:lvl3pPr>
      <a:lvl4pPr marL="4788118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4pPr>
      <a:lvl5pPr marL="6156152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5pPr>
      <a:lvl6pPr marL="7524186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6pPr>
      <a:lvl7pPr marL="8892220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7pPr>
      <a:lvl8pPr marL="10260254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8pPr>
      <a:lvl9pPr marL="11628288" indent="-684017" algn="l" defTabSz="2736068" rtl="0" eaLnBrk="1" latinLnBrk="0" hangingPunct="1">
        <a:lnSpc>
          <a:spcPct val="90000"/>
        </a:lnSpc>
        <a:spcBef>
          <a:spcPts val="1496"/>
        </a:spcBef>
        <a:buFont typeface="Arial" panose="020B0604020202020204" pitchFamily="34" charset="0"/>
        <a:buChar char="•"/>
        <a:defRPr sz="53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1pPr>
      <a:lvl2pPr marL="1368034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2pPr>
      <a:lvl3pPr marL="2736068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3pPr>
      <a:lvl4pPr marL="4104102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4pPr>
      <a:lvl5pPr marL="5472135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5pPr>
      <a:lvl6pPr marL="6840169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6pPr>
      <a:lvl7pPr marL="8208203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7pPr>
      <a:lvl8pPr marL="9576237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8pPr>
      <a:lvl9pPr marL="10944271" algn="l" defTabSz="2736068" rtl="0" eaLnBrk="1" latinLnBrk="0" hangingPunct="1">
        <a:defRPr sz="53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004F39">
                <a:lumMod val="100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3D3C91-FFE0-E31C-A094-4DF2DB3CDF5F}"/>
              </a:ext>
            </a:extLst>
          </p:cNvPr>
          <p:cNvSpPr txBox="1"/>
          <p:nvPr/>
        </p:nvSpPr>
        <p:spPr>
          <a:xfrm>
            <a:off x="645002" y="569754"/>
            <a:ext cx="124288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dirty="0">
                <a:solidFill>
                  <a:srgbClr val="004F39"/>
                </a:solidFill>
              </a:rPr>
              <a:t>Modeling PFOS in Corn Stover and Beef to Assess Human Dietary Exposure</a:t>
            </a:r>
            <a:endParaRPr lang="en-CN" sz="5400" i="1" dirty="0">
              <a:solidFill>
                <a:srgbClr val="004F3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AF8EA-8253-12A3-5DF0-FF8EEF7F7002}"/>
              </a:ext>
            </a:extLst>
          </p:cNvPr>
          <p:cNvSpPr txBox="1"/>
          <p:nvPr/>
        </p:nvSpPr>
        <p:spPr>
          <a:xfrm>
            <a:off x="792479" y="2305281"/>
            <a:ext cx="124288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Jiahe Tian,</a:t>
            </a:r>
            <a:r>
              <a:rPr lang="en-US" sz="3200" baseline="30000" dirty="0"/>
              <a:t>1</a:t>
            </a:r>
            <a:r>
              <a:rPr lang="en-US" sz="3200" dirty="0"/>
              <a:t> Ankita Bhattacharya,</a:t>
            </a:r>
            <a:r>
              <a:rPr lang="en-US" sz="3200" baseline="30000" dirty="0"/>
              <a:t>1</a:t>
            </a:r>
            <a:r>
              <a:rPr lang="en-US" sz="3200" dirty="0"/>
              <a:t> Courtney C. Carignan</a:t>
            </a:r>
            <a:r>
              <a:rPr lang="en-US" sz="3200" baseline="30000" dirty="0"/>
              <a:t>1</a:t>
            </a:r>
          </a:p>
          <a:p>
            <a:r>
              <a:rPr lang="en-US" sz="3200" baseline="30000" dirty="0"/>
              <a:t>1</a:t>
            </a:r>
            <a:r>
              <a:rPr lang="en-US" sz="3200" dirty="0"/>
              <a:t>Department Food Science and Human Nutrition, Michigan State University, East Lansing, Michigan, USA</a:t>
            </a:r>
            <a:endParaRPr lang="en-CN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D339AC-7951-B6F5-3175-A09831914711}"/>
              </a:ext>
            </a:extLst>
          </p:cNvPr>
          <p:cNvSpPr txBox="1"/>
          <p:nvPr/>
        </p:nvSpPr>
        <p:spPr>
          <a:xfrm>
            <a:off x="645000" y="3989216"/>
            <a:ext cx="12576324" cy="21852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N" sz="4000" b="1" i="1" dirty="0">
                <a:solidFill>
                  <a:srgbClr val="004F39"/>
                </a:solidFill>
              </a:rPr>
              <a:t>OBJECTIVES</a:t>
            </a:r>
          </a:p>
          <a:p>
            <a:r>
              <a:rPr lang="en-US" sz="3200" dirty="0"/>
              <a:t>Develop and apply modeling frameworks to quantify </a:t>
            </a:r>
            <a:r>
              <a:rPr lang="en-US" sz="3200" dirty="0" err="1"/>
              <a:t>perfluorooctane</a:t>
            </a:r>
            <a:r>
              <a:rPr lang="en-US" sz="3200" dirty="0"/>
              <a:t> sulfonic acid (PFOS) in crops and cattle from soil and estimate human dietary intake from beef consumption.</a:t>
            </a:r>
            <a:endParaRPr lang="en-C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D4D73-C37A-36F2-A8BA-BE4EABAF0E6D}"/>
              </a:ext>
            </a:extLst>
          </p:cNvPr>
          <p:cNvSpPr txBox="1"/>
          <p:nvPr/>
        </p:nvSpPr>
        <p:spPr>
          <a:xfrm>
            <a:off x="645000" y="6470330"/>
            <a:ext cx="12576323" cy="36625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N" sz="4000" b="1" i="1" dirty="0">
                <a:solidFill>
                  <a:srgbClr val="004F39"/>
                </a:solidFill>
              </a:rPr>
              <a:t>BACKGROUND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Per- and polyfluoroalkyl substances (PFAS) present in biosolid-amended soils can transfer and accumulate in crops, livestock, and, ultimately, humans through dietary intake.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Given the persistence of PFAS, there is a critical need for modeling tools to estimate PFAS transfer to crops and livestock and associated human dietary exposures.</a:t>
            </a:r>
            <a:endParaRPr lang="en-CN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B865F0-AA6E-633F-A3F6-ED5758A7B1BF}"/>
                  </a:ext>
                </a:extLst>
              </p:cNvPr>
              <p:cNvSpPr txBox="1"/>
              <p:nvPr/>
            </p:nvSpPr>
            <p:spPr>
              <a:xfrm>
                <a:off x="623837" y="10428771"/>
                <a:ext cx="12597486" cy="2407498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N" sz="4000" b="1" i="1" dirty="0">
                    <a:solidFill>
                      <a:srgbClr val="004F39"/>
                    </a:solidFill>
                  </a:rPr>
                  <a:t>METHODS</a:t>
                </a:r>
              </a:p>
              <a:p>
                <a:pPr marL="457200" indent="-4572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3200" dirty="0"/>
                  <a:t>A literature review was conducted to compile bioaccumulation factors (BAFs) from soil to corn stover. </a:t>
                </a:r>
              </a:p>
              <a:p>
                <a:r>
                  <a:rPr lang="en-US" sz="3200" b="1" dirty="0"/>
                  <a:t>Figure 1</a:t>
                </a:r>
                <a:r>
                  <a:rPr lang="en-US" sz="3200" dirty="0"/>
                  <a:t>. Comparison of soil to corn stover BAFs derived from previous studies (A) and calculated from our study samples (B).    </a:t>
                </a:r>
              </a:p>
              <a:p>
                <a:r>
                  <a:rPr lang="en-US" sz="3200" dirty="0"/>
                  <a:t> 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Median and maximum BAFs and PFOS concentrations from biosolid-amended soils were used to estimate PFOS in stover.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A dynamic pharmacokinetic model was applied to predict PFOS in cattle muscle over two years.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3200" dirty="0"/>
              </a:p>
              <a:p>
                <a:endParaRPr lang="en-US" sz="32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The predicted PFOS concentrations in cattle muscle were multiplied by body weight-adjusted consumption rates (BW-CR) for beef to estimate daily exposure for both children and adults.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/>
                      <m:t>EDI</m:t>
                    </m:r>
                    <m:r>
                      <m:rPr>
                        <m:nor/>
                      </m:rPr>
                      <a:rPr lang="en-US" sz="2800"/>
                      <m:t> (</m:t>
                    </m:r>
                    <m:r>
                      <m:rPr>
                        <m:nor/>
                      </m:rPr>
                      <a:rPr lang="en-US" sz="2800"/>
                      <m:t>ng</m:t>
                    </m:r>
                    <m:r>
                      <m:rPr>
                        <m:nor/>
                      </m:rPr>
                      <a:rPr lang="en-US" sz="2800"/>
                      <m:t>/</m:t>
                    </m:r>
                    <m:r>
                      <m:rPr>
                        <m:nor/>
                      </m:rPr>
                      <a:rPr lang="en-US" sz="2800"/>
                      <m:t>kg</m:t>
                    </m:r>
                    <m:r>
                      <m:rPr>
                        <m:nor/>
                      </m:rPr>
                      <a:rPr lang="en-US" sz="2800" i="1"/>
                      <m:t>−</m:t>
                    </m:r>
                    <m:r>
                      <m:rPr>
                        <m:nor/>
                      </m:rPr>
                      <a:rPr lang="en-US" sz="2800"/>
                      <m:t>bw</m:t>
                    </m:r>
                    <m:r>
                      <m:rPr>
                        <m:nor/>
                      </m:rPr>
                      <a:rPr lang="en-US" sz="2800"/>
                      <m:t>/</m:t>
                    </m:r>
                    <m:r>
                      <m:rPr>
                        <m:nor/>
                      </m:rPr>
                      <a:rPr lang="en-US" sz="2800"/>
                      <m:t>day</m:t>
                    </m:r>
                    <m:r>
                      <m:rPr>
                        <m:nor/>
                      </m:rPr>
                      <a:rPr lang="en-US" sz="2800"/>
                      <m:t>)</m:t>
                    </m:r>
                    <m:r>
                      <m:rPr>
                        <m:nor/>
                      </m:rPr>
                      <a:rPr lang="en-US" sz="2800" i="1"/>
                      <m:t> =</m:t>
                    </m:r>
                    <m:f>
                      <m:fPr>
                        <m:ctrlPr>
                          <a:rPr lang="en-CN" sz="2800" i="1"/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800"/>
                          <m:t>C</m:t>
                        </m:r>
                        <m:r>
                          <a:rPr lang="en-US" sz="2800"/>
                          <m:t>×</m:t>
                        </m:r>
                        <m:d>
                          <m:dPr>
                            <m:ctrlPr>
                              <a:rPr lang="en-CN" sz="2800" i="1"/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/>
                              <m:t>BW</m:t>
                            </m:r>
                            <m:r>
                              <a:rPr lang="en-US" sz="2800" i="1"/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2800"/>
                              <m:t>CR</m:t>
                            </m:r>
                          </m:e>
                        </m:d>
                        <m:r>
                          <a:rPr lang="en-US" sz="2800"/>
                          <m:t>×( </m:t>
                        </m:r>
                        <m:r>
                          <m:rPr>
                            <m:sty m:val="p"/>
                          </m:rPr>
                          <a:rPr lang="en-US" sz="2800"/>
                          <m:t>ED</m:t>
                        </m:r>
                        <m:r>
                          <a:rPr lang="en-US" sz="2800"/>
                          <m:t> ×</m:t>
                        </m:r>
                        <m:r>
                          <a:rPr lang="en-US" sz="2800" i="1"/>
                          <m:t> </m:t>
                        </m:r>
                        <m:r>
                          <a:rPr lang="en-US" sz="2800" i="1"/>
                          <m:t>𝐸𝐹</m:t>
                        </m:r>
                        <m:r>
                          <a:rPr lang="en-US" sz="2800" i="1"/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800"/>
                          <m:t>AT</m:t>
                        </m:r>
                      </m:den>
                    </m:f>
                  </m:oMath>
                </a14:m>
                <a:r>
                  <a:rPr lang="en-CN" sz="3200" dirty="0">
                    <a:effectLst/>
                  </a:rPr>
                  <a:t> </a:t>
                </a:r>
              </a:p>
              <a:p>
                <a:pPr marL="457200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  <a:buNone/>
                </a:pPr>
                <a:r>
                  <a:rPr lang="en-US" sz="180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EDI = Estimated Dietary Intake (dose; ng/kg-</a:t>
                </a:r>
                <a:r>
                  <a:rPr lang="en-US" sz="1800" dirty="0" err="1">
                    <a:effectLst/>
                    <a:latin typeface="Arial" panose="020B060402020202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bw</a:t>
                </a:r>
                <a:r>
                  <a:rPr lang="en-US" sz="180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/day)</a:t>
                </a:r>
                <a:endParaRPr lang="en-CN" sz="18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457200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  <a:buNone/>
                </a:pPr>
                <a:r>
                  <a:rPr lang="en-US" sz="180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C = Concentration of PFAS in corn or cattle tissue (ng/g-ww)</a:t>
                </a:r>
                <a:endParaRPr lang="en-CN" sz="18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457200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  <a:buNone/>
                </a:pPr>
                <a:r>
                  <a:rPr lang="en-US" sz="180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BW-CR = Body weight adjusted consumption rate (g-ww/kg-day-1, (US EPA 2018)</a:t>
                </a:r>
                <a:endParaRPr lang="en-CN" sz="18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457200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  <a:buNone/>
                </a:pPr>
                <a:r>
                  <a:rPr lang="en-US" sz="180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EF = Exposure Frequency (days/years); assumed to be 365 days/year for daily exposure</a:t>
                </a:r>
                <a:endParaRPr lang="en-CN" sz="18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457200">
                  <a:lnSpc>
                    <a:spcPct val="107000"/>
                  </a:lnSpc>
                  <a:spcBef>
                    <a:spcPts val="1200"/>
                  </a:spcBef>
                  <a:spcAft>
                    <a:spcPts val="800"/>
                  </a:spcAft>
                  <a:buNone/>
                </a:pPr>
                <a:r>
                  <a:rPr lang="en-US" sz="180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ED = Exposure Duration (years); a duration of 1 year was used</a:t>
                </a:r>
                <a:endParaRPr lang="en-CN" sz="1800" dirty="0">
                  <a:effectLst/>
                  <a:latin typeface="Calibri" panose="020F0502020204030204" pitchFamily="34" charset="0"/>
                  <a:ea typeface="SimSun" panose="02010600030101010101" pitchFamily="2" charset="-122"/>
                  <a:cs typeface="Arial" panose="020B0604020202020204" pitchFamily="34" charset="0"/>
                </a:endParaRPr>
              </a:p>
              <a:p>
                <a:pPr marL="457200">
                  <a:lnSpc>
                    <a:spcPct val="107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180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AT = Averaging Time (days</a:t>
                </a:r>
                <a:r>
                  <a:rPr lang="en-US" sz="1100" dirty="0">
                    <a:effectLst/>
                    <a:latin typeface="Calibri" panose="020F050202020403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  </a:t>
                </a:r>
                <a:r>
                  <a:rPr lang="en-US" sz="1800" dirty="0">
                    <a:effectLst/>
                    <a:latin typeface="Arial" panose="020B0604020202020204" pitchFamily="34" charset="0"/>
                    <a:ea typeface="SimSun" panose="02010600030101010101" pitchFamily="2" charset="-122"/>
                    <a:cs typeface="Arial" panose="020B0604020202020204" pitchFamily="34" charset="0"/>
                  </a:rPr>
                  <a:t>); 365 days to estimate annual exposure</a:t>
                </a:r>
                <a:endParaRPr lang="en-US" sz="3200" b="1" dirty="0"/>
              </a:p>
              <a:p>
                <a:r>
                  <a:rPr lang="en-US" sz="3200" b="1" dirty="0"/>
                  <a:t>Figure 2</a:t>
                </a:r>
                <a:r>
                  <a:rPr lang="en-US" sz="3200" dirty="0"/>
                  <a:t>. Pathway of PFAS Transfer from Industry to Farm Family via Agricultural Production</a:t>
                </a:r>
              </a:p>
              <a:p>
                <a:endParaRPr lang="en-US" sz="3200" dirty="0"/>
              </a:p>
              <a:p>
                <a:endParaRPr lang="en-US" sz="3200" dirty="0"/>
              </a:p>
              <a:p>
                <a:endParaRPr lang="en-US" sz="3200" dirty="0"/>
              </a:p>
              <a:p>
                <a:endParaRPr lang="en-US" sz="3200" dirty="0"/>
              </a:p>
              <a:p>
                <a:endParaRPr lang="en-US" sz="3200" dirty="0"/>
              </a:p>
              <a:p>
                <a:endParaRPr lang="en-US" sz="3200" dirty="0"/>
              </a:p>
              <a:p>
                <a:endParaRPr lang="en-US" sz="3200" dirty="0"/>
              </a:p>
              <a:p>
                <a:endParaRPr lang="en-US" sz="3200" dirty="0"/>
              </a:p>
              <a:p>
                <a:endParaRPr lang="en-US" sz="3200" dirty="0"/>
              </a:p>
              <a:p>
                <a:endParaRPr lang="en-US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B865F0-AA6E-633F-A3F6-ED5758A7B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37" y="10428771"/>
                <a:ext cx="12597486" cy="24074989"/>
              </a:xfrm>
              <a:prstGeom prst="rect">
                <a:avLst/>
              </a:prstGeom>
              <a:blipFill>
                <a:blip r:embed="rId3"/>
                <a:stretch>
                  <a:fillRect l="-1610" t="-421" r="-110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84F5920-105C-7589-7BA6-0D7C2CB67649}"/>
              </a:ext>
            </a:extLst>
          </p:cNvPr>
          <p:cNvSpPr txBox="1"/>
          <p:nvPr/>
        </p:nvSpPr>
        <p:spPr>
          <a:xfrm>
            <a:off x="13964839" y="2680293"/>
            <a:ext cx="12603246" cy="312700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N" sz="4000" b="1" i="1" dirty="0">
                <a:solidFill>
                  <a:srgbClr val="004F39"/>
                </a:solidFill>
              </a:rPr>
              <a:t>RESULTS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Median estimated PFOS exposure via beef consumption was notably higher for children compared to adults due to higher BW-CR.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PFOS concentrations were estimated for beef, stover and soil that result in exposures of 0.1 ng/kg-</a:t>
            </a:r>
            <a:r>
              <a:rPr lang="en-US" sz="3200" dirty="0" err="1"/>
              <a:t>bw</a:t>
            </a:r>
            <a:r>
              <a:rPr lang="en-US" sz="3200" dirty="0"/>
              <a:t>/day (U.S. EPA reference dose).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Exposure estimates increase with incorporation of upper bound BAF and BW-CR, cattle placental transfer, background PFOS exposure and mixtures of PFASs.</a:t>
            </a:r>
          </a:p>
          <a:p>
            <a:pPr algn="just"/>
            <a:r>
              <a:rPr lang="en-US" sz="3200" b="1" dirty="0"/>
              <a:t>Figure 3.</a:t>
            </a:r>
            <a:r>
              <a:rPr lang="en-US" sz="3200" dirty="0"/>
              <a:t> </a:t>
            </a:r>
            <a:r>
              <a:rPr lang="en-US" sz="3200" b="1" dirty="0"/>
              <a:t>Estimated dietary intakes (EDI, ng/kg-</a:t>
            </a:r>
            <a:r>
              <a:rPr lang="en-US" sz="3200" b="1" dirty="0" err="1"/>
              <a:t>bw</a:t>
            </a:r>
            <a:r>
              <a:rPr lang="en-US" sz="3200" b="1" dirty="0"/>
              <a:t>/day) of PFOS  </a:t>
            </a:r>
          </a:p>
          <a:p>
            <a:r>
              <a:rPr lang="en-US" sz="2400" dirty="0"/>
              <a:t>for children (ages 1 to 2, the red line is median EDI) and adults (ages 20 to 49, the blue line is median EDI) from our model for the soil-stover-meat pathway across concentrations of PFOS in A) soil, B) stover and C) beef cattle meat. Shading indicates upper-bound EDIs for children (red) and adults (blue). The dashed gray line at 0.01 ng/kg-</a:t>
            </a:r>
            <a:r>
              <a:rPr lang="en-US" sz="2400" dirty="0" err="1"/>
              <a:t>bw</a:t>
            </a:r>
            <a:r>
              <a:rPr lang="en-US" sz="2400" dirty="0"/>
              <a:t>/day indicates U.S. EPA’s reference dose (</a:t>
            </a:r>
            <a:r>
              <a:rPr lang="en-US" sz="2400" dirty="0" err="1"/>
              <a:t>RfD</a:t>
            </a:r>
            <a:r>
              <a:rPr lang="en-US" sz="2400" dirty="0"/>
              <a:t>) for PFOS.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r>
              <a:rPr lang="en-US" sz="3200" b="1" dirty="0"/>
              <a:t>Table 1</a:t>
            </a:r>
            <a:r>
              <a:rPr lang="en-US" sz="3200" dirty="0"/>
              <a:t>. Concentrations below these values are safe for exposure from soil, stover and beef cattle grown or raised on this impacted farm</a:t>
            </a:r>
            <a:endParaRPr lang="en-US" sz="3200" b="1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N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FE58AB-01DD-D56E-031B-DCE4CECC9A40}"/>
              </a:ext>
            </a:extLst>
          </p:cNvPr>
          <p:cNvSpPr txBox="1"/>
          <p:nvPr/>
        </p:nvSpPr>
        <p:spPr>
          <a:xfrm>
            <a:off x="13964839" y="34450717"/>
            <a:ext cx="12597486" cy="31700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CN" sz="4000" b="1" i="1" dirty="0">
                <a:solidFill>
                  <a:srgbClr val="004F39"/>
                </a:solidFill>
              </a:rPr>
              <a:t>CONCLUSIONS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This study presents a quantitative approach for estimating PFOS accumulation from crops to livestock along with human dietary exposure to inform intervention strategies.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Future work will expand this approach to include additional staple crops used in cattle feed and a broader range of PFAS compounds.</a:t>
            </a:r>
            <a:endParaRPr lang="en-CN" sz="3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A111BC1-E2D3-F9D8-9B18-0698F3363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51" y="29434856"/>
            <a:ext cx="12425258" cy="50158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9DB7B8-AAC8-3EDB-E924-02C34A59C91B}"/>
              </a:ext>
            </a:extLst>
          </p:cNvPr>
          <p:cNvSpPr txBox="1"/>
          <p:nvPr/>
        </p:nvSpPr>
        <p:spPr>
          <a:xfrm>
            <a:off x="623837" y="34957609"/>
            <a:ext cx="12586905" cy="26776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N" sz="4000" b="1" i="1" dirty="0">
                <a:solidFill>
                  <a:srgbClr val="004F39"/>
                </a:solidFill>
              </a:rPr>
              <a:t>REFERENCE</a:t>
            </a:r>
          </a:p>
          <a:p>
            <a:r>
              <a:rPr lang="en-CN" sz="3200" dirty="0"/>
              <a:t>xxxx</a:t>
            </a:r>
          </a:p>
          <a:p>
            <a:endParaRPr lang="en-CN" sz="3200" dirty="0"/>
          </a:p>
          <a:p>
            <a:endParaRPr lang="en-CN" sz="3200" dirty="0"/>
          </a:p>
          <a:p>
            <a:endParaRPr lang="en-CN" sz="3200" dirty="0"/>
          </a:p>
        </p:txBody>
      </p:sp>
      <p:pic>
        <p:nvPicPr>
          <p:cNvPr id="15" name="Picture 14" descr="A graph with multiple colored bars&#10;&#10;AI-generated content may be incorrect.">
            <a:extLst>
              <a:ext uri="{FF2B5EF4-FFF2-40B4-BE49-F238E27FC236}">
                <a16:creationId xmlns:a16="http://schemas.microsoft.com/office/drawing/2014/main" id="{DE40CA9F-E071-8A69-1EC0-A140D7BFA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32" y="13404355"/>
            <a:ext cx="12398312" cy="4649367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5AF73EC8-CABA-1957-8D4C-CA541D773C1C}"/>
              </a:ext>
            </a:extLst>
          </p:cNvPr>
          <p:cNvSpPr/>
          <p:nvPr/>
        </p:nvSpPr>
        <p:spPr>
          <a:xfrm>
            <a:off x="5478372" y="20692785"/>
            <a:ext cx="2601686" cy="938199"/>
          </a:xfrm>
          <a:prstGeom prst="ellipse">
            <a:avLst/>
          </a:prstGeom>
          <a:solidFill>
            <a:srgbClr val="F9BB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400" b="1" dirty="0">
                <a:solidFill>
                  <a:schemeClr val="tx1"/>
                </a:solidFill>
              </a:rPr>
              <a:t>BLOOD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90EEA43-CF89-5C2E-4A5C-DFCBD4CCF943}"/>
              </a:ext>
            </a:extLst>
          </p:cNvPr>
          <p:cNvSpPr/>
          <p:nvPr/>
        </p:nvSpPr>
        <p:spPr>
          <a:xfrm>
            <a:off x="2288857" y="20692785"/>
            <a:ext cx="2601686" cy="938199"/>
          </a:xfrm>
          <a:prstGeom prst="ellipse">
            <a:avLst/>
          </a:prstGeom>
          <a:solidFill>
            <a:srgbClr val="FABD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400" b="1" dirty="0">
                <a:solidFill>
                  <a:schemeClr val="tx1"/>
                </a:solidFill>
              </a:rPr>
              <a:t>MUSCLE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845168-B96F-F19F-CF39-33B6410D5D57}"/>
              </a:ext>
            </a:extLst>
          </p:cNvPr>
          <p:cNvSpPr/>
          <p:nvPr/>
        </p:nvSpPr>
        <p:spPr>
          <a:xfrm>
            <a:off x="8667887" y="20692785"/>
            <a:ext cx="2601686" cy="938199"/>
          </a:xfrm>
          <a:prstGeom prst="ellipse">
            <a:avLst/>
          </a:prstGeom>
          <a:solidFill>
            <a:srgbClr val="EC81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400" b="1" dirty="0">
                <a:solidFill>
                  <a:schemeClr val="tx1"/>
                </a:solidFill>
              </a:rPr>
              <a:t>LIVER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F8C6E5C-48C7-1A5B-0474-59D9A7FBEE58}"/>
              </a:ext>
            </a:extLst>
          </p:cNvPr>
          <p:cNvSpPr/>
          <p:nvPr/>
        </p:nvSpPr>
        <p:spPr>
          <a:xfrm>
            <a:off x="5478372" y="21926781"/>
            <a:ext cx="2601686" cy="938199"/>
          </a:xfrm>
          <a:prstGeom prst="ellipse">
            <a:avLst/>
          </a:prstGeom>
          <a:solidFill>
            <a:srgbClr val="D263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2400" b="1" dirty="0">
                <a:solidFill>
                  <a:schemeClr val="tx1"/>
                </a:solidFill>
              </a:rPr>
              <a:t>KIDNEY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0CB2CB0F-ECF4-FB3E-AFBA-8D28D7C58216}"/>
              </a:ext>
            </a:extLst>
          </p:cNvPr>
          <p:cNvSpPr/>
          <p:nvPr/>
        </p:nvSpPr>
        <p:spPr>
          <a:xfrm>
            <a:off x="7862344" y="21205894"/>
            <a:ext cx="1099457" cy="2774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D9BB9A56-D877-4DD4-DC41-10CCC80FAD27}"/>
              </a:ext>
            </a:extLst>
          </p:cNvPr>
          <p:cNvSpPr/>
          <p:nvPr/>
        </p:nvSpPr>
        <p:spPr>
          <a:xfrm flipH="1">
            <a:off x="4596627" y="21205894"/>
            <a:ext cx="1099457" cy="2774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44C50BCF-93BD-16C1-78C2-6C47079FCAD1}"/>
              </a:ext>
            </a:extLst>
          </p:cNvPr>
          <p:cNvSpPr/>
          <p:nvPr/>
        </p:nvSpPr>
        <p:spPr>
          <a:xfrm rot="5400000">
            <a:off x="6382353" y="21557828"/>
            <a:ext cx="488923" cy="457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N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5089A8A2-86B3-CE5C-CD26-4B2DBC425443}"/>
              </a:ext>
            </a:extLst>
          </p:cNvPr>
          <p:cNvSpPr/>
          <p:nvPr/>
        </p:nvSpPr>
        <p:spPr>
          <a:xfrm>
            <a:off x="4781687" y="20976424"/>
            <a:ext cx="794657" cy="13927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E16CE3E2-4133-25A7-B5DD-A5F6D713C5F3}"/>
              </a:ext>
            </a:extLst>
          </p:cNvPr>
          <p:cNvSpPr/>
          <p:nvPr/>
        </p:nvSpPr>
        <p:spPr>
          <a:xfrm flipH="1">
            <a:off x="7976643" y="20976424"/>
            <a:ext cx="794657" cy="13927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5572A5BA-B490-A5A5-F8FC-6D757DB05ABC}"/>
              </a:ext>
            </a:extLst>
          </p:cNvPr>
          <p:cNvSpPr/>
          <p:nvPr/>
        </p:nvSpPr>
        <p:spPr>
          <a:xfrm rot="16200000">
            <a:off x="6728994" y="21630287"/>
            <a:ext cx="482313" cy="22947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N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3BD18E0A-DAB7-4045-00CF-B625E6F2776E}"/>
              </a:ext>
            </a:extLst>
          </p:cNvPr>
          <p:cNvSpPr/>
          <p:nvPr/>
        </p:nvSpPr>
        <p:spPr>
          <a:xfrm rot="5400000">
            <a:off x="6534753" y="20316287"/>
            <a:ext cx="488923" cy="4572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C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42BD6B-FC68-7232-356C-D01433380550}"/>
              </a:ext>
            </a:extLst>
          </p:cNvPr>
          <p:cNvSpPr txBox="1"/>
          <p:nvPr/>
        </p:nvSpPr>
        <p:spPr>
          <a:xfrm>
            <a:off x="6410940" y="19966195"/>
            <a:ext cx="754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/>
              <a:t>PFOS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2E6DA29-9AE6-4AFA-5218-B8342243CD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598" y="9382191"/>
            <a:ext cx="12603245" cy="20943569"/>
          </a:xfrm>
          <a:prstGeom prst="rect">
            <a:avLst/>
          </a:prstGeom>
          <a:noFill/>
        </p:spPr>
      </p:pic>
      <p:pic>
        <p:nvPicPr>
          <p:cNvPr id="4" name="Picture 3" descr="A green logo with a black background&#10;&#10;AI-generated content may be incorrect.">
            <a:extLst>
              <a:ext uri="{FF2B5EF4-FFF2-40B4-BE49-F238E27FC236}">
                <a16:creationId xmlns:a16="http://schemas.microsoft.com/office/drawing/2014/main" id="{D9D79D0F-D187-D285-9003-E354DA73D5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33888" y="377871"/>
            <a:ext cx="3149600" cy="2146300"/>
          </a:xfrm>
          <a:prstGeom prst="rect">
            <a:avLst/>
          </a:prstGeom>
        </p:spPr>
      </p:pic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31E06F0-D8E1-E4F3-1D7C-397A3FA0A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37549"/>
              </p:ext>
            </p:extLst>
          </p:nvPr>
        </p:nvGraphicFramePr>
        <p:xfrm>
          <a:off x="14172948" y="31340504"/>
          <a:ext cx="12128081" cy="2386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583">
                  <a:extLst>
                    <a:ext uri="{9D8B030D-6E8A-4147-A177-3AD203B41FA5}">
                      <a16:colId xmlns:a16="http://schemas.microsoft.com/office/drawing/2014/main" val="2506846559"/>
                    </a:ext>
                  </a:extLst>
                </a:gridCol>
                <a:gridCol w="1732583">
                  <a:extLst>
                    <a:ext uri="{9D8B030D-6E8A-4147-A177-3AD203B41FA5}">
                      <a16:colId xmlns:a16="http://schemas.microsoft.com/office/drawing/2014/main" val="1704799193"/>
                    </a:ext>
                  </a:extLst>
                </a:gridCol>
                <a:gridCol w="1732583">
                  <a:extLst>
                    <a:ext uri="{9D8B030D-6E8A-4147-A177-3AD203B41FA5}">
                      <a16:colId xmlns:a16="http://schemas.microsoft.com/office/drawing/2014/main" val="87140175"/>
                    </a:ext>
                  </a:extLst>
                </a:gridCol>
                <a:gridCol w="1732583">
                  <a:extLst>
                    <a:ext uri="{9D8B030D-6E8A-4147-A177-3AD203B41FA5}">
                      <a16:colId xmlns:a16="http://schemas.microsoft.com/office/drawing/2014/main" val="3013795061"/>
                    </a:ext>
                  </a:extLst>
                </a:gridCol>
                <a:gridCol w="1732583">
                  <a:extLst>
                    <a:ext uri="{9D8B030D-6E8A-4147-A177-3AD203B41FA5}">
                      <a16:colId xmlns:a16="http://schemas.microsoft.com/office/drawing/2014/main" val="3174257768"/>
                    </a:ext>
                  </a:extLst>
                </a:gridCol>
                <a:gridCol w="1732583">
                  <a:extLst>
                    <a:ext uri="{9D8B030D-6E8A-4147-A177-3AD203B41FA5}">
                      <a16:colId xmlns:a16="http://schemas.microsoft.com/office/drawing/2014/main" val="2766320850"/>
                    </a:ext>
                  </a:extLst>
                </a:gridCol>
                <a:gridCol w="1732583">
                  <a:extLst>
                    <a:ext uri="{9D8B030D-6E8A-4147-A177-3AD203B41FA5}">
                      <a16:colId xmlns:a16="http://schemas.microsoft.com/office/drawing/2014/main" val="229327695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 lang="en-CN" sz="2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Soil conc. (ng/g)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Stover conc. (ng/g)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Muscle conc. (ng/g)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46975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Percentile for BAF 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Age 1 to 2  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Age 20 to 49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Age 1 to 2  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Age 20 to 49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Age 1 to 2  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Age 20 to 49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7893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Min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2.158  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3.885 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0.014 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0.024 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latin typeface="+mn-lt"/>
                        </a:rPr>
                        <a:t>0.111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400" dirty="0">
                          <a:latin typeface="+mn-lt"/>
                        </a:rPr>
                        <a:t>0.200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1445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Median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0.448  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0.807 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0.059 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0.107 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0021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Max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0.111  </a:t>
                      </a:r>
                      <a:endParaRPr lang="en-US" sz="2400" dirty="0">
                        <a:latin typeface="+mn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0.199 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0.068 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pitchFamily="2" charset="-122"/>
                        </a:rPr>
                        <a:t>0.123 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CN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4413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956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984</TotalTime>
  <Words>722</Words>
  <Application>Microsoft Macintosh PowerPoint</Application>
  <PresentationFormat>Custom</PresentationFormat>
  <Paragraphs>143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稼禾 田</dc:creator>
  <cp:lastModifiedBy>稼禾 田</cp:lastModifiedBy>
  <cp:revision>15</cp:revision>
  <dcterms:created xsi:type="dcterms:W3CDTF">2025-08-04T12:22:55Z</dcterms:created>
  <dcterms:modified xsi:type="dcterms:W3CDTF">2025-08-15T18:47:34Z</dcterms:modified>
</cp:coreProperties>
</file>