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8BBA0-67F2-DF4E-8DCF-E5D311CDC301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DC3A0-B8DB-F848-8095-FEFBDBB5BA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045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DC3A0-B8DB-F848-8095-FEFBDBB5BA87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3962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8891-5810-E741-D480-08550A07E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C129A-C093-9C80-0547-DDA5E3F49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D1F-C3C3-F26B-A281-D97588B6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2AB84-887E-51B0-CE84-7F200226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05BEC-3187-4480-7DF9-7383A1E9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826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D305-903F-2F58-FAEA-A0930754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990F-62C3-20DB-32DD-F3439AC5E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85AD0-AF2D-E7C8-ECA8-FADCC2DF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0252-75EC-7137-D490-1889FDC9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FE75-9E93-5866-2107-F65563BA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361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FC77-D1AC-5B85-8626-713D87C9D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0C7EB-0433-3EAB-640D-3BCFFB78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DB700-78EB-FBE1-161B-2C00345F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F461-5164-34FE-C4FE-835D6814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39145-FC70-6CD0-2E19-75661C79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36515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0A1B-E9B6-1A7E-BA7F-EB52B2B9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E4713-7588-D27A-AFF5-3EC66459B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1653D-AE9E-7AC5-9C94-8AAB9173A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6DE88-D398-2B8B-2667-0E387A54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5497A-2691-FA48-29BF-8F45A15A3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4A538-F68A-0F5E-E74E-3D548047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398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489D-CA2C-0E60-940C-6DF28F85A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D87E9-E4E2-8A88-B7E6-14C2428AF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1420B-EF04-3A7C-3F02-0BC6EDF00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C0707-15EB-FE4A-800F-552058695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6A791-0576-5A7F-2DDB-DDC020FD3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12F62-2B7C-D0BB-EEF5-EA696BCA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C7B3C-3D59-745D-B252-E15CCB88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F2327-00D0-91FE-CAC6-8E8833F0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526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7ACD-C09E-4EA0-A4AF-0C7A4C74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44619-B81B-C28D-2BE4-58CFAD11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2E6EE-71EC-0264-2510-43EF39D3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C7679-50AB-719E-C44D-D6157C63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626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94BA9-0B7D-6069-808F-61259CCB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A39D8-9145-092A-13AF-316E8DCA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706F-30EE-5B0E-2A4E-3E92FEA5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614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1851-CC2B-334F-1301-341F99E8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22951-E788-FF18-5EF2-5C25CED3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50C54-4525-7FDB-0597-6C1F432DD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C4A95-896E-7AB3-C286-2C361072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CC123-46E3-5B89-E981-0E71FF85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0B285-C7B6-7919-0564-298D4AD9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6809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86DE-421F-6FD2-A61B-6FE02553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F0D6-E86B-0510-BA5D-DD1E5C95E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E3FCB-B48D-5097-3ABA-599C5B3D0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6CD54-4A60-E764-0ADA-98F470FC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9C03A-CCAA-2FF7-5F8E-ED335598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20B41-FA26-987D-5098-6A150E29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150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4B65-749F-81BB-18B3-A9A4AE41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D7093-9669-864B-8B42-6B59E7DB2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B9314-5041-FED9-AD5F-8494A988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21D23-D180-BB72-7632-ECC29639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56FD5-6EDB-CD05-3307-0A19E136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0665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F89B0C-7D03-1842-60F8-7B30A9648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2A0DB-A019-1670-D0D5-BD228923D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AF110-935B-A9A2-622C-EA461005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22034-4861-8AB9-3C97-F7D489DD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3BD4-75CE-B016-1C0D-AE24463A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384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36032-9A47-C70F-A090-7A8425A4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7E0E6-6E2C-EB42-4735-1171ED565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DB769-720A-C49B-98A7-C348946B4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35EB5-656B-D248-82F2-4F6B94309065}" type="datetimeFigureOut">
              <a:rPr lang="en-CN" smtClean="0"/>
              <a:t>2024/11/6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7EC75-C9CB-64FC-3C06-C6D24BBAA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98DB-A355-769E-4969-697B891C3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67E25-6170-C845-BCA8-F34E95C6F9F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805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acs.org/doi/10.1021/es103903d" TargetMode="External"/><Relationship Id="rId2" Type="http://schemas.openxmlformats.org/officeDocument/2006/relationships/hyperlink" Target="https://www.sciencedirect.com/science/article/pii/S016041202100225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209531191661585X" TargetMode="External"/><Relationship Id="rId4" Type="http://schemas.openxmlformats.org/officeDocument/2006/relationships/hyperlink" Target="https://pubs.acs.org/doi/10.1021/es10038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F6AA7C-69DA-E9F9-6B67-4D34ED97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81966"/>
            <a:ext cx="7772400" cy="2820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0FEB68-FDBF-8E2B-714F-5A79875DA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451498"/>
            <a:ext cx="7772400" cy="717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872B5-D403-190E-BE5C-A6222FF7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276610"/>
            <a:ext cx="7772400" cy="2284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E8E3C-452F-0058-23B9-E91FD74E9B32}"/>
              </a:ext>
            </a:extLst>
          </p:cNvPr>
          <p:cNvSpPr txBox="1"/>
          <p:nvPr/>
        </p:nvSpPr>
        <p:spPr>
          <a:xfrm>
            <a:off x="381000" y="212634"/>
            <a:ext cx="332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Biosolids Screening Tool (EPA)</a:t>
            </a:r>
          </a:p>
        </p:txBody>
      </p:sp>
    </p:spTree>
    <p:extLst>
      <p:ext uri="{BB962C8B-B14F-4D97-AF65-F5344CB8AC3E}">
        <p14:creationId xmlns:p14="http://schemas.microsoft.com/office/powerpoint/2010/main" val="71372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96870D-75F0-6D66-08D0-0894A870EB25}"/>
              </a:ext>
            </a:extLst>
          </p:cNvPr>
          <p:cNvSpPr/>
          <p:nvPr/>
        </p:nvSpPr>
        <p:spPr>
          <a:xfrm>
            <a:off x="559254" y="2615869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Biosolids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F4FCA-9B28-474B-FAC4-9B861A105B7A}"/>
              </a:ext>
            </a:extLst>
          </p:cNvPr>
          <p:cNvSpPr/>
          <p:nvPr/>
        </p:nvSpPr>
        <p:spPr>
          <a:xfrm>
            <a:off x="2783341" y="1734909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Soil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8161C2-CC3A-154E-3B80-925018E37871}"/>
              </a:ext>
            </a:extLst>
          </p:cNvPr>
          <p:cNvSpPr/>
          <p:nvPr/>
        </p:nvSpPr>
        <p:spPr>
          <a:xfrm>
            <a:off x="9464802" y="2615869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5EB7BCD-9E7A-5E14-D0A6-4233BB0308C6}"/>
              </a:ext>
            </a:extLst>
          </p:cNvPr>
          <p:cNvSpPr/>
          <p:nvPr/>
        </p:nvSpPr>
        <p:spPr>
          <a:xfrm>
            <a:off x="4767943" y="491587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Plant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1E7658-1A9C-9DBC-77BE-455CD52BD2DC}"/>
              </a:ext>
            </a:extLst>
          </p:cNvPr>
          <p:cNvSpPr/>
          <p:nvPr/>
        </p:nvSpPr>
        <p:spPr>
          <a:xfrm>
            <a:off x="6607628" y="1734909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Animal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203692-B6B3-3B31-AE80-5188379EA946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159454" y="3101644"/>
            <a:ext cx="73053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E1258AC-BB9B-013C-82FE-0A4B10AD0E19}"/>
              </a:ext>
            </a:extLst>
          </p:cNvPr>
          <p:cNvSpPr/>
          <p:nvPr/>
        </p:nvSpPr>
        <p:spPr>
          <a:xfrm>
            <a:off x="4767943" y="3587419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Surface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Water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168F880-73C2-8B73-A811-9C8C1EA5DE70}"/>
              </a:ext>
            </a:extLst>
          </p:cNvPr>
          <p:cNvSpPr/>
          <p:nvPr/>
        </p:nvSpPr>
        <p:spPr>
          <a:xfrm>
            <a:off x="6607628" y="4740152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Fish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5F3BB5-9357-A5E0-E67B-15E94246D1F8}"/>
              </a:ext>
            </a:extLst>
          </p:cNvPr>
          <p:cNvSpPr/>
          <p:nvPr/>
        </p:nvSpPr>
        <p:spPr>
          <a:xfrm>
            <a:off x="4767943" y="5711702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Ground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Water</a:t>
            </a:r>
            <a:endParaRPr lang="en-CN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E8817C-2620-71B3-475E-95158B213842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159454" y="2220684"/>
            <a:ext cx="623887" cy="880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526D40-BB81-F9DF-5EA3-88A5C73D88BF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4383541" y="977362"/>
            <a:ext cx="384402" cy="124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46F7B0-2759-93C9-868B-4477C4F49191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6368143" y="977362"/>
            <a:ext cx="239485" cy="1243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9C9B5DCF-6187-EF11-DD10-A36B67827781}"/>
              </a:ext>
            </a:extLst>
          </p:cNvPr>
          <p:cNvCxnSpPr>
            <a:stCxn id="11" idx="3"/>
            <a:endCxn id="9" idx="1"/>
          </p:cNvCxnSpPr>
          <p:nvPr/>
        </p:nvCxnSpPr>
        <p:spPr>
          <a:xfrm>
            <a:off x="6368143" y="977362"/>
            <a:ext cx="3096659" cy="2124282"/>
          </a:xfrm>
          <a:prstGeom prst="curvedConnector3">
            <a:avLst>
              <a:gd name="adj1" fmla="val 763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631ED1-DC50-3FD1-DE93-0B0F9918E180}"/>
              </a:ext>
            </a:extLst>
          </p:cNvPr>
          <p:cNvCxnSpPr>
            <a:stCxn id="13" idx="3"/>
            <a:endCxn id="9" idx="1"/>
          </p:cNvCxnSpPr>
          <p:nvPr/>
        </p:nvCxnSpPr>
        <p:spPr>
          <a:xfrm>
            <a:off x="8207828" y="2220684"/>
            <a:ext cx="1256974" cy="880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79503B-5DE1-EDE1-00B8-A9C25828C076}"/>
              </a:ext>
            </a:extLst>
          </p:cNvPr>
          <p:cNvCxnSpPr>
            <a:stCxn id="7" idx="3"/>
            <a:endCxn id="16" idx="1"/>
          </p:cNvCxnSpPr>
          <p:nvPr/>
        </p:nvCxnSpPr>
        <p:spPr>
          <a:xfrm>
            <a:off x="4383541" y="2220684"/>
            <a:ext cx="384402" cy="1852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5F6F2C-F4B9-6D4D-E356-F3F916DEC3CA}"/>
              </a:ext>
            </a:extLst>
          </p:cNvPr>
          <p:cNvCxnSpPr>
            <a:stCxn id="7" idx="3"/>
            <a:endCxn id="18" idx="1"/>
          </p:cNvCxnSpPr>
          <p:nvPr/>
        </p:nvCxnSpPr>
        <p:spPr>
          <a:xfrm>
            <a:off x="4383541" y="2220684"/>
            <a:ext cx="384402" cy="397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DF5A68-D4C3-70AF-AC32-FDEC0EF7CE46}"/>
              </a:ext>
            </a:extLst>
          </p:cNvPr>
          <p:cNvCxnSpPr>
            <a:stCxn id="16" idx="3"/>
            <a:endCxn id="9" idx="1"/>
          </p:cNvCxnSpPr>
          <p:nvPr/>
        </p:nvCxnSpPr>
        <p:spPr>
          <a:xfrm flipV="1">
            <a:off x="6368143" y="3101644"/>
            <a:ext cx="3096659" cy="971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F92F3A-2B3F-65AA-E012-6D96DF31CD2C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6368143" y="4073194"/>
            <a:ext cx="239485" cy="1152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106A7A3-E768-188D-7722-176AC9DB651A}"/>
              </a:ext>
            </a:extLst>
          </p:cNvPr>
          <p:cNvCxnSpPr>
            <a:stCxn id="17" idx="3"/>
            <a:endCxn id="9" idx="1"/>
          </p:cNvCxnSpPr>
          <p:nvPr/>
        </p:nvCxnSpPr>
        <p:spPr>
          <a:xfrm flipV="1">
            <a:off x="8207828" y="3101644"/>
            <a:ext cx="1256974" cy="2124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33CB3AD6-036B-16B8-52C4-5DBEA7157AC5}"/>
              </a:ext>
            </a:extLst>
          </p:cNvPr>
          <p:cNvCxnSpPr>
            <a:stCxn id="18" idx="3"/>
            <a:endCxn id="9" idx="2"/>
          </p:cNvCxnSpPr>
          <p:nvPr/>
        </p:nvCxnSpPr>
        <p:spPr>
          <a:xfrm flipV="1">
            <a:off x="6368143" y="3587419"/>
            <a:ext cx="3896759" cy="261005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5CD71B1-61B2-8FA0-F182-412AABC994F7}"/>
              </a:ext>
            </a:extLst>
          </p:cNvPr>
          <p:cNvSpPr txBox="1"/>
          <p:nvPr/>
        </p:nvSpPr>
        <p:spPr>
          <a:xfrm>
            <a:off x="2847339" y="3173664"/>
            <a:ext cx="2613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F3863"/>
                </a:solidFill>
                <a:effectLst/>
                <a:latin typeface="Arial" panose="020B0604020202020204" pitchFamily="34" charset="0"/>
              </a:rPr>
              <a:t>Watershed and Waterbody Modeling </a:t>
            </a:r>
            <a:endParaRPr lang="en-US" dirty="0">
              <a:solidFill>
                <a:srgbClr val="1F386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A880B1-C9F1-0EA0-266E-BD2B50019505}"/>
              </a:ext>
            </a:extLst>
          </p:cNvPr>
          <p:cNvSpPr txBox="1"/>
          <p:nvPr/>
        </p:nvSpPr>
        <p:spPr>
          <a:xfrm>
            <a:off x="121124" y="1610363"/>
            <a:ext cx="3569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rgbClr val="1F3863"/>
                </a:solidFill>
                <a:latin typeface="Arial" panose="020B0604020202020204" pitchFamily="34" charset="0"/>
              </a:rPr>
              <a:t>Land</a:t>
            </a:r>
            <a:r>
              <a:rPr lang="zh-CN" alt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F3863"/>
                </a:solidFill>
                <a:latin typeface="Arial" panose="020B0604020202020204" pitchFamily="34" charset="0"/>
              </a:rPr>
              <a:t>Application</a:t>
            </a:r>
            <a:r>
              <a:rPr lang="zh-CN" alt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F3863"/>
                </a:solidFill>
                <a:latin typeface="Arial" panose="020B0604020202020204" pitchFamily="34" charset="0"/>
              </a:rPr>
              <a:t>Unit;</a:t>
            </a:r>
          </a:p>
          <a:p>
            <a:r>
              <a:rPr 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Generic Soil Column Module</a:t>
            </a:r>
            <a:endParaRPr lang="en-CN" b="1" dirty="0">
              <a:solidFill>
                <a:srgbClr val="1F3863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94B1DA-05B8-A543-6169-BB48C7C716AC}"/>
              </a:ext>
            </a:extLst>
          </p:cNvPr>
          <p:cNvSpPr txBox="1"/>
          <p:nvPr/>
        </p:nvSpPr>
        <p:spPr>
          <a:xfrm>
            <a:off x="381000" y="212634"/>
            <a:ext cx="332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Biosolids Screening Tool (EPA)</a:t>
            </a:r>
          </a:p>
        </p:txBody>
      </p:sp>
    </p:spTree>
    <p:extLst>
      <p:ext uri="{BB962C8B-B14F-4D97-AF65-F5344CB8AC3E}">
        <p14:creationId xmlns:p14="http://schemas.microsoft.com/office/powerpoint/2010/main" val="215492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85AD3F-67EB-4F4F-7329-42A7FC171B3A}"/>
              </a:ext>
            </a:extLst>
          </p:cNvPr>
          <p:cNvSpPr/>
          <p:nvPr/>
        </p:nvSpPr>
        <p:spPr>
          <a:xfrm>
            <a:off x="428626" y="2664960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Biosolids</a:t>
            </a:r>
          </a:p>
          <a:p>
            <a:pPr algn="ctr"/>
            <a:r>
              <a:rPr lang="en-CN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ED46D9-925A-E1F1-5865-67118AA6775B}"/>
              </a:ext>
            </a:extLst>
          </p:cNvPr>
          <p:cNvSpPr/>
          <p:nvPr/>
        </p:nvSpPr>
        <p:spPr>
          <a:xfrm>
            <a:off x="3226254" y="1138916"/>
            <a:ext cx="3936546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Biosolids-amended soil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D51DAB-498A-7949-3FFE-AA8436442E3E}"/>
              </a:ext>
            </a:extLst>
          </p:cNvPr>
          <p:cNvSpPr/>
          <p:nvPr/>
        </p:nvSpPr>
        <p:spPr>
          <a:xfrm>
            <a:off x="3226254" y="2568347"/>
            <a:ext cx="3936546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Municipal biosolids</a:t>
            </a:r>
            <a:endParaRPr lang="en-CN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BC6FD3-B72F-2C47-1267-1BC53873A764}"/>
              </a:ext>
            </a:extLst>
          </p:cNvPr>
          <p:cNvSpPr/>
          <p:nvPr/>
        </p:nvSpPr>
        <p:spPr>
          <a:xfrm>
            <a:off x="3226254" y="3712710"/>
            <a:ext cx="3936546" cy="8028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Wastewater treatment plant sludge applied soil</a:t>
            </a:r>
            <a:endParaRPr lang="en-CN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B06B57-4D1E-52AD-A9FC-B6F3BD9D59B6}"/>
              </a:ext>
            </a:extLst>
          </p:cNvPr>
          <p:cNvSpPr/>
          <p:nvPr/>
        </p:nvSpPr>
        <p:spPr>
          <a:xfrm>
            <a:off x="7743825" y="635454"/>
            <a:ext cx="3936546" cy="5021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Biosolids-amended agricultural areas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5F1C03-6665-88B2-D816-67DD8B385EE0}"/>
              </a:ext>
            </a:extLst>
          </p:cNvPr>
          <p:cNvSpPr/>
          <p:nvPr/>
        </p:nvSpPr>
        <p:spPr>
          <a:xfrm>
            <a:off x="3226254" y="4726439"/>
            <a:ext cx="3936546" cy="5021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Compost amended soil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8BC84A-662F-1DFB-3D33-3271EC732A9A}"/>
              </a:ext>
            </a:extLst>
          </p:cNvPr>
          <p:cNvSpPr/>
          <p:nvPr/>
        </p:nvSpPr>
        <p:spPr>
          <a:xfrm>
            <a:off x="7743825" y="2554738"/>
            <a:ext cx="3936546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Municipal biosolids- applied soil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FD51DAB-498A-7949-3FFE-AA8436442E3E}"/>
              </a:ext>
            </a:extLst>
          </p:cNvPr>
          <p:cNvSpPr/>
          <p:nvPr/>
        </p:nvSpPr>
        <p:spPr>
          <a:xfrm>
            <a:off x="3226254" y="5472800"/>
            <a:ext cx="3936546" cy="7123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Industrially impacted Biosolids-amended soil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482319-58B9-2C07-AF0A-8FA4E2F7E8AF}"/>
              </a:ext>
            </a:extLst>
          </p:cNvPr>
          <p:cNvSpPr/>
          <p:nvPr/>
        </p:nvSpPr>
        <p:spPr>
          <a:xfrm>
            <a:off x="7743825" y="1418201"/>
            <a:ext cx="3936546" cy="5864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Biosolids-amended agricultural field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557C9-AE6D-D136-F4AC-482A6EB2136D}"/>
              </a:ext>
            </a:extLst>
          </p:cNvPr>
          <p:cNvSpPr txBox="1"/>
          <p:nvPr/>
        </p:nvSpPr>
        <p:spPr>
          <a:xfrm>
            <a:off x="381000" y="212634"/>
            <a:ext cx="2237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Biosolids Locations</a:t>
            </a:r>
          </a:p>
        </p:txBody>
      </p:sp>
    </p:spTree>
    <p:extLst>
      <p:ext uri="{BB962C8B-B14F-4D97-AF65-F5344CB8AC3E}">
        <p14:creationId xmlns:p14="http://schemas.microsoft.com/office/powerpoint/2010/main" val="16656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85F662-1AD5-6C6A-E0D6-C5E47A64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293" y="1327666"/>
            <a:ext cx="6961414" cy="5068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E7428B-56AA-DFCA-FA26-750EA4EDE6A4}"/>
              </a:ext>
            </a:extLst>
          </p:cNvPr>
          <p:cNvSpPr txBox="1"/>
          <p:nvPr/>
        </p:nvSpPr>
        <p:spPr>
          <a:xfrm>
            <a:off x="598713" y="681335"/>
            <a:ext cx="9361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Effects of drinking water treatment residual amendments to biosolids on plant uptake of per- and polyfluoroalkyl substances</a:t>
            </a:r>
          </a:p>
        </p:txBody>
      </p:sp>
    </p:spTree>
    <p:extLst>
      <p:ext uri="{BB962C8B-B14F-4D97-AF65-F5344CB8AC3E}">
        <p14:creationId xmlns:p14="http://schemas.microsoft.com/office/powerpoint/2010/main" val="367120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7DF9BF-9331-DE47-EFAF-D8A2DCA5C3B1}"/>
              </a:ext>
            </a:extLst>
          </p:cNvPr>
          <p:cNvSpPr txBox="1"/>
          <p:nvPr/>
        </p:nvSpPr>
        <p:spPr>
          <a:xfrm>
            <a:off x="859971" y="600279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Characterizing and Comparing Per- and Polyfluoroalkyl Substances in Commercially Available Biosolid and Organic Non-Biosolid-Based Products</a:t>
            </a:r>
            <a:endParaRPr lang="en-C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B883E-3BDC-6EF0-D737-35A33074D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369785"/>
            <a:ext cx="70104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6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03FD-1361-2E9C-BAD1-A13C7B25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BD66AD-C7FA-9B61-159E-7F6750E98B7E}"/>
              </a:ext>
            </a:extLst>
          </p:cNvPr>
          <p:cNvSpPr txBox="1"/>
          <p:nvPr/>
        </p:nvSpPr>
        <p:spPr>
          <a:xfrm>
            <a:off x="859971" y="600279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Characterizing and Comparing Per- and Polyfluoroalkyl Substances in Commercially Available Biosolid and Organic Non-Biosolid-Based Products</a:t>
            </a:r>
            <a:endParaRPr lang="en-C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A048DF-ED74-70B8-46E8-AC9943E7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369785"/>
            <a:ext cx="70104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7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4CC2-B79E-0401-17E9-D5D1EF92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9DE0E3-3425-04E0-B447-F02A5D15BFBB}"/>
              </a:ext>
            </a:extLst>
          </p:cNvPr>
          <p:cNvSpPr txBox="1"/>
          <p:nvPr/>
        </p:nvSpPr>
        <p:spPr>
          <a:xfrm>
            <a:off x="500744" y="642257"/>
            <a:ext cx="198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Literature Search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8630D3-941F-1610-DC3D-4AFCD8F4E9FE}"/>
              </a:ext>
            </a:extLst>
          </p:cNvPr>
          <p:cNvGraphicFramePr>
            <a:graphicFrameLocks noGrp="1"/>
          </p:cNvGraphicFramePr>
          <p:nvPr/>
        </p:nvGraphicFramePr>
        <p:xfrm>
          <a:off x="660400" y="1207814"/>
          <a:ext cx="10802258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9580">
                  <a:extLst>
                    <a:ext uri="{9D8B030D-6E8A-4147-A177-3AD203B41FA5}">
                      <a16:colId xmlns:a16="http://schemas.microsoft.com/office/drawing/2014/main" val="2718187818"/>
                    </a:ext>
                  </a:extLst>
                </a:gridCol>
                <a:gridCol w="1006963">
                  <a:extLst>
                    <a:ext uri="{9D8B030D-6E8A-4147-A177-3AD203B41FA5}">
                      <a16:colId xmlns:a16="http://schemas.microsoft.com/office/drawing/2014/main" val="23572407"/>
                    </a:ext>
                  </a:extLst>
                </a:gridCol>
                <a:gridCol w="3265715">
                  <a:extLst>
                    <a:ext uri="{9D8B030D-6E8A-4147-A177-3AD203B41FA5}">
                      <a16:colId xmlns:a16="http://schemas.microsoft.com/office/drawing/2014/main" val="286794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58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ElsevierGulliver"/>
                          <a:hlinkClick r:id="rId2"/>
                        </a:rPr>
                        <a:t>Distribution, behaviour, bioavailability and remediation of poly- and per-fluoroalkyl substances (PFAS) in solid biowastes and biowaste-treated soil</a:t>
                      </a:r>
                      <a:endParaRPr lang="en-US" b="0" i="0" dirty="0">
                        <a:solidFill>
                          <a:srgbClr val="1F1F1F"/>
                        </a:solidFill>
                        <a:effectLst/>
                        <a:latin typeface="ElsevierGulliver"/>
                      </a:endParaRPr>
                    </a:p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Behaviour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bioavailability of PFAS in biowastes and biowaste-treated soil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4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Occurrence and Fate of Perfluorochemicals in Soil Following the Land Application of Municipal Biosolids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75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Concentrations, Distribution, and Persistence of </a:t>
                      </a:r>
                      <a:r>
                        <a:rPr lang="en-US" dirty="0" err="1">
                          <a:hlinkClick r:id="rId4"/>
                        </a:rPr>
                        <a:t>Perfluoroalkylates</a:t>
                      </a:r>
                      <a:r>
                        <a:rPr lang="en-US" dirty="0">
                          <a:hlinkClick r:id="rId4"/>
                        </a:rPr>
                        <a:t> in Sludge-Applied Soils near Decatur, Alabama, USA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031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Perfluorooctanoic acid (PFOA) and </a:t>
                      </a:r>
                      <a:r>
                        <a:rPr lang="en-US" dirty="0" err="1">
                          <a:hlinkClick r:id="rId5"/>
                        </a:rPr>
                        <a:t>perfluorooctanesulfonic</a:t>
                      </a:r>
                      <a:r>
                        <a:rPr lang="en-US" dirty="0">
                          <a:hlinkClick r:id="rId5"/>
                        </a:rPr>
                        <a:t> acid (PFOS) concentrations in the South Korean agricultural environment: A national survey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85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5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203</Words>
  <Application>Microsoft Macintosh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ElsevierGulliver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1</cp:revision>
  <dcterms:created xsi:type="dcterms:W3CDTF">2024-11-06T14:48:16Z</dcterms:created>
  <dcterms:modified xsi:type="dcterms:W3CDTF">2024-11-06T16:06:25Z</dcterms:modified>
</cp:coreProperties>
</file>