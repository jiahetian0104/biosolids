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60" r:id="rId4"/>
    <p:sldId id="259" r:id="rId5"/>
    <p:sldId id="256" r:id="rId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7" d="100"/>
          <a:sy n="11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F6B4D-7980-9646-9E3B-A23B577416B4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CA1D0-03E0-E84D-90CB-C8EEFF2397D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3972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</a:t>
            </a:r>
            <a:r>
              <a:rPr lang="en-US" dirty="0" err="1"/>
              <a:t>doi.org</a:t>
            </a:r>
            <a:r>
              <a:rPr lang="en-US" dirty="0"/>
              <a:t>/10.1016/j.fct.2023.114062</a:t>
            </a:r>
            <a:endParaRPr lang="en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8C659-9CE0-B24F-AB01-C8B8282B2559}" type="slidenum">
              <a:rPr kumimoji="0" lang="en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7517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* Sepulvado et al., 2011 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CA1D0-03E0-E84D-90CB-C8EEFF2397D5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68317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F5B1-ED71-8AC9-90EC-6662447D1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CED70-4F23-877B-6357-04AAB9339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33F6B-F687-FEAA-3950-A11B77AF7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Step 1, Step 2, Step 3.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1761B-7A00-BBEF-06AA-7803A93F1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CA1D0-03E0-E84D-90CB-C8EEFF2397D5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8353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C68A6-0AD7-1847-82AD-3EDDBD91D1BA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4162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B225-0018-9F31-AD4E-1EF5E5EC5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369254-A7BD-DD28-F5A5-CB21E79FA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6FD2D-A130-0097-BC22-5CF46F126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2328E-1530-FF9E-61B5-0A6AAE0E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0AE4F-DC20-E4ED-74DD-F6F76D25F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5519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DC27-7A00-92D9-CC45-60C0620D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6DA08-E2BE-3C21-C555-0708C5636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D3884-F486-ABD2-996B-C293C5AF7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8710B-0309-C222-B69C-C614D28F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3905-A8AA-141A-BF5E-A640393C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029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85A0-846D-3DC0-FA8C-2642FFF9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6D7C1-9CA7-FEEC-566A-8C8C5C2B2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7B10C-D7CF-A133-9A1C-CA7F6282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9089A-2043-C161-E597-F3FCAB3C8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AA285-8CD0-1CB1-74D1-B317383E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71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847E-9E16-D211-4693-611408280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FAF1B-F613-2217-7132-8DCF90B3A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2AEC0-F560-3DB0-CB1B-341FF87F6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DC109-CB5A-431B-794E-D45D0524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7CED-8506-5E6C-A4AC-F5214D42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9A98B-063C-2801-8BE0-53F325208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56695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B4BEA-CBAC-09C8-E8CA-BF39F534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41CB5-FFE8-4B38-DCEA-D4518F91B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78855-92FA-B653-8943-90A2BC9F3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8A624-0BC0-B420-019F-8DDEC58D8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DD05B-7C6E-AC6E-801E-7692E7D45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C57A8-F752-1A17-4242-158FEE5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D9F70-A839-DE65-1A81-D545DC9F0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9BA99-8860-BE25-9B2A-92DE1E79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337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F564-8909-A29D-E1E5-C0A595C0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059B4-F2C0-78BC-7BA8-2D846163E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D3AE1-6A7F-14AA-C839-50C75FEE1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18645-053F-E1B3-BC6A-3CBDA35A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95107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022372-6CA7-B284-DFE0-5035CC05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9EC2BF-2924-DDBC-3657-F9954755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82330-5407-5C69-D17D-8508E9C3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97118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80E9B-55A4-2635-8285-DCFE9B669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FA01D-40E0-D349-4E2E-1C9ADD753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B91C1-F044-D18C-2D74-3B03D0DD3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75DF1-E53A-6BFC-C612-3E14EB786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24911-D8A0-6DDB-25F0-25457230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33313-FBDB-320B-EC98-0282B3640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47631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F5460-C077-F6C1-E8C7-33C2F3EF0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94AF5-62B1-6D5D-3047-6165C6996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6C335-EB8A-14BE-90C8-CB4391725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CDF65-CE5C-BBA7-AA9A-B8647D396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76980-6572-C91C-8BC8-05B50ABBC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5AB29-4104-F6F2-37A0-CB992F6D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2618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E128-D675-6ED4-DCB9-8D988F16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9C720-07EB-CB36-BDA7-C167324E0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11731-C4B0-20FC-E8E1-5A60EE08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7F76-A68A-4525-B356-9681D2DF6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8FBF6-12D5-12F9-E52E-B32FB415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865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088F5C-3000-9003-319B-085E0182B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39B48-DE07-4521-76FE-822C04799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9F04C-D33D-7598-6D83-176935C4E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D15D5-DF77-8A23-7C22-06918437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39283-3412-F038-716B-0A3E5417C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210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20510-92D2-4B80-7157-E58DDB7C1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A08A4-5901-79F4-F6D2-578662D12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127A6-BD90-2C93-FBB4-6B0743D9B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E8B31-879F-6A4F-B43B-A8117E5C8665}" type="datetimeFigureOut">
              <a:rPr lang="en-CN" smtClean="0"/>
              <a:t>2025/5/30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0CD18-8058-E7DC-3880-77FFB363A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D2C5-AC54-9C5D-AD1A-3F1CF0EC6E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B6B7F-F6F7-4C4B-B8BB-62C5290EE1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251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B427DB-D1B8-54B7-646F-FD5FE742D5B6}"/>
              </a:ext>
            </a:extLst>
          </p:cNvPr>
          <p:cNvSpPr/>
          <p:nvPr/>
        </p:nvSpPr>
        <p:spPr>
          <a:xfrm>
            <a:off x="766083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Biosolids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08112E-B90A-7035-070B-C11B690AEF3D}"/>
              </a:ext>
            </a:extLst>
          </p:cNvPr>
          <p:cNvSpPr/>
          <p:nvPr/>
        </p:nvSpPr>
        <p:spPr>
          <a:xfrm>
            <a:off x="2935907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Soil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929C11-FD35-9D0F-EF91-6FB4A7AF222C}"/>
              </a:ext>
            </a:extLst>
          </p:cNvPr>
          <p:cNvSpPr/>
          <p:nvPr/>
        </p:nvSpPr>
        <p:spPr>
          <a:xfrm>
            <a:off x="9595431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Human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0C27E6-ADBE-A87F-03F3-70CE517E8BB8}"/>
              </a:ext>
            </a:extLst>
          </p:cNvPr>
          <p:cNvSpPr/>
          <p:nvPr/>
        </p:nvSpPr>
        <p:spPr>
          <a:xfrm>
            <a:off x="5029201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85823B-BE5A-9907-D49B-E82289CA12A1}"/>
              </a:ext>
            </a:extLst>
          </p:cNvPr>
          <p:cNvSpPr/>
          <p:nvPr/>
        </p:nvSpPr>
        <p:spPr>
          <a:xfrm>
            <a:off x="7271331" y="2943225"/>
            <a:ext cx="1600200" cy="97155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Animal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F6209AD-08E3-64E7-96FA-6FA4A9A8C3F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366283" y="3429000"/>
            <a:ext cx="569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F64998-0742-6F83-93CC-E18739F0734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536107" y="3429000"/>
            <a:ext cx="4930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A88E37-B6F2-8DC3-A642-875E2D05426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629401" y="3429000"/>
            <a:ext cx="6419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65EBAD-E80C-C3D0-8100-34BC6F8F8CF7}"/>
              </a:ext>
            </a:extLst>
          </p:cNvPr>
          <p:cNvCxnSpPr>
            <a:stCxn id="8" idx="3"/>
            <a:endCxn id="6" idx="1"/>
          </p:cNvCxnSpPr>
          <p:nvPr/>
        </p:nvCxnSpPr>
        <p:spPr>
          <a:xfrm>
            <a:off x="8871531" y="3429000"/>
            <a:ext cx="723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DC9287-EB29-110E-027F-BE357D8FC14D}"/>
              </a:ext>
            </a:extLst>
          </p:cNvPr>
          <p:cNvCxnSpPr>
            <a:cxnSpLocks/>
          </p:cNvCxnSpPr>
          <p:nvPr/>
        </p:nvCxnSpPr>
        <p:spPr>
          <a:xfrm>
            <a:off x="5018316" y="1197429"/>
            <a:ext cx="0" cy="3995057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DE7DAB-F30E-8E4B-75FD-3847329EF205}"/>
              </a:ext>
            </a:extLst>
          </p:cNvPr>
          <p:cNvSpPr txBox="1"/>
          <p:nvPr/>
        </p:nvSpPr>
        <p:spPr>
          <a:xfrm>
            <a:off x="906209" y="1876324"/>
            <a:ext cx="342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1: Biosolids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Application Simulation</a:t>
            </a:r>
            <a:endParaRPr kumimoji="0" lang="en-CN" sz="1800" b="1" i="0" u="none" strike="noStrike" kern="1200" cap="none" spc="0" normalizeH="0" baseline="0" noProof="0" dirty="0">
              <a:ln>
                <a:noFill/>
              </a:ln>
              <a:solidFill>
                <a:srgbClr val="1F386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2" name="Down Arrow 31">
            <a:extLst>
              <a:ext uri="{FF2B5EF4-FFF2-40B4-BE49-F238E27FC236}">
                <a16:creationId xmlns:a16="http://schemas.microsoft.com/office/drawing/2014/main" id="{303FD411-7174-AFDB-3C24-69892F1D40B9}"/>
              </a:ext>
            </a:extLst>
          </p:cNvPr>
          <p:cNvSpPr/>
          <p:nvPr/>
        </p:nvSpPr>
        <p:spPr>
          <a:xfrm flipH="1">
            <a:off x="2544560" y="2569029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8C7BB2-1F09-0254-6F20-C4B06D6D3A66}"/>
              </a:ext>
            </a:extLst>
          </p:cNvPr>
          <p:cNvSpPr txBox="1"/>
          <p:nvPr/>
        </p:nvSpPr>
        <p:spPr>
          <a:xfrm>
            <a:off x="2797473" y="4260412"/>
            <a:ext cx="40875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2: Diet Composition and Bioaccumulation Literature Review</a:t>
            </a:r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FAF7D15A-EA26-998C-50F4-A056549A3B2F}"/>
              </a:ext>
            </a:extLst>
          </p:cNvPr>
          <p:cNvSpPr/>
          <p:nvPr/>
        </p:nvSpPr>
        <p:spPr>
          <a:xfrm rot="10800000" flipH="1">
            <a:off x="4701373" y="3744013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44AA1-C548-840C-60EA-9716E8B768D5}"/>
              </a:ext>
            </a:extLst>
          </p:cNvPr>
          <p:cNvSpPr txBox="1"/>
          <p:nvPr/>
        </p:nvSpPr>
        <p:spPr>
          <a:xfrm>
            <a:off x="4968715" y="3475374"/>
            <a:ext cx="17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corn, grass, etc.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5560605D-B6CE-9A3B-E3C3-AD6F160B1E52}"/>
              </a:ext>
            </a:extLst>
          </p:cNvPr>
          <p:cNvSpPr/>
          <p:nvPr/>
        </p:nvSpPr>
        <p:spPr>
          <a:xfrm flipH="1">
            <a:off x="6828789" y="2569029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F8ED5E-617A-7000-728A-596439775802}"/>
              </a:ext>
            </a:extLst>
          </p:cNvPr>
          <p:cNvSpPr txBox="1"/>
          <p:nvPr/>
        </p:nvSpPr>
        <p:spPr>
          <a:xfrm>
            <a:off x="5070667" y="1876325"/>
            <a:ext cx="35162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3: Refine P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harmacokinetic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Model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CE280-E99C-3A8A-E6C6-3E18C50FD907}"/>
              </a:ext>
            </a:extLst>
          </p:cNvPr>
          <p:cNvSpPr txBox="1"/>
          <p:nvPr/>
        </p:nvSpPr>
        <p:spPr>
          <a:xfrm>
            <a:off x="7177252" y="3468280"/>
            <a:ext cx="18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swine, cattle etc.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EE7C80-C7BA-195A-0444-14A32B4059A3}"/>
              </a:ext>
            </a:extLst>
          </p:cNvPr>
          <p:cNvSpPr txBox="1"/>
          <p:nvPr/>
        </p:nvSpPr>
        <p:spPr>
          <a:xfrm>
            <a:off x="7226524" y="4260412"/>
            <a:ext cx="408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4: Estimate Daily Intake 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CA9D8F5-745C-9884-7E83-E0521D6BAA77}"/>
              </a:ext>
            </a:extLst>
          </p:cNvPr>
          <p:cNvSpPr/>
          <p:nvPr/>
        </p:nvSpPr>
        <p:spPr>
          <a:xfrm rot="10800000" flipH="1">
            <a:off x="9130424" y="3744013"/>
            <a:ext cx="162562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18C874-8B1B-459F-6709-1A6B54673D31}"/>
              </a:ext>
            </a:extLst>
          </p:cNvPr>
          <p:cNvSpPr txBox="1"/>
          <p:nvPr/>
        </p:nvSpPr>
        <p:spPr>
          <a:xfrm>
            <a:off x="715788" y="1211716"/>
            <a:ext cx="4148139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Wait to Be Done</a:t>
            </a:r>
            <a:endParaRPr kumimoji="0" lang="en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22FF37-3EFA-56CF-34C8-69E8FCD123D9}"/>
              </a:ext>
            </a:extLst>
          </p:cNvPr>
          <p:cNvSpPr txBox="1"/>
          <p:nvPr/>
        </p:nvSpPr>
        <p:spPr>
          <a:xfrm>
            <a:off x="5172698" y="1210650"/>
            <a:ext cx="602293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 to Be Revised</a:t>
            </a:r>
            <a:endParaRPr kumimoji="0" lang="en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42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8491BE7-C9D0-EC6B-AEB5-CD2796A54B33}"/>
              </a:ext>
            </a:extLst>
          </p:cNvPr>
          <p:cNvGrpSpPr/>
          <p:nvPr/>
        </p:nvGrpSpPr>
        <p:grpSpPr>
          <a:xfrm>
            <a:off x="6324604" y="678791"/>
            <a:ext cx="5752205" cy="5257800"/>
            <a:chOff x="5259236" y="424543"/>
            <a:chExt cx="3870532" cy="35378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D3AE9B6-DAC8-A7D1-9FFF-257AC7ACA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0881" b="11123"/>
            <a:stretch/>
          </p:blipFill>
          <p:spPr>
            <a:xfrm>
              <a:off x="5259236" y="424543"/>
              <a:ext cx="1049133" cy="35378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7B3FBB-843F-6FE9-7663-0FC22574F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871" t="7657" b="11123"/>
            <a:stretch/>
          </p:blipFill>
          <p:spPr>
            <a:xfrm>
              <a:off x="6269252" y="729343"/>
              <a:ext cx="2860516" cy="323305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D85775-BA5A-B822-7DF7-D8BB5CC17036}"/>
              </a:ext>
            </a:extLst>
          </p:cNvPr>
          <p:cNvSpPr txBox="1"/>
          <p:nvPr/>
        </p:nvSpPr>
        <p:spPr>
          <a:xfrm>
            <a:off x="6579414" y="1373293"/>
            <a:ext cx="1197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(Top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cm)</a:t>
            </a:r>
            <a:endParaRPr lang="en-CN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367287A-3E48-2462-A206-390C59594F52}"/>
              </a:ext>
            </a:extLst>
          </p:cNvPr>
          <p:cNvSpPr/>
          <p:nvPr/>
        </p:nvSpPr>
        <p:spPr>
          <a:xfrm>
            <a:off x="457200" y="341806"/>
            <a:ext cx="1557982" cy="4529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Biosolids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9B2E91-4D93-BD8C-B8B9-FE08966CEFC3}"/>
              </a:ext>
            </a:extLst>
          </p:cNvPr>
          <p:cNvSpPr/>
          <p:nvPr/>
        </p:nvSpPr>
        <p:spPr>
          <a:xfrm>
            <a:off x="457200" y="1258867"/>
            <a:ext cx="1557982" cy="4529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Topsoil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FA4A74D-6578-80AA-A6D2-02F012361140}"/>
              </a:ext>
            </a:extLst>
          </p:cNvPr>
          <p:cNvSpPr/>
          <p:nvPr/>
        </p:nvSpPr>
        <p:spPr>
          <a:xfrm>
            <a:off x="456010" y="3040991"/>
            <a:ext cx="1559172" cy="94617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Leaching from Topsoil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FEBBB49-534E-004E-D566-22A409AB4B92}"/>
              </a:ext>
            </a:extLst>
          </p:cNvPr>
          <p:cNvSpPr/>
          <p:nvPr/>
        </p:nvSpPr>
        <p:spPr>
          <a:xfrm>
            <a:off x="456009" y="5889916"/>
            <a:ext cx="1559173" cy="4529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74CD30-A8F9-54AD-EBDC-754E6F832DBE}"/>
              </a:ext>
            </a:extLst>
          </p:cNvPr>
          <p:cNvSpPr/>
          <p:nvPr/>
        </p:nvSpPr>
        <p:spPr>
          <a:xfrm>
            <a:off x="2460171" y="341806"/>
            <a:ext cx="3635829" cy="4529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Biosolids Loading Rate (Mg/ha)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8699184-F00B-2272-08B2-EBA1A144C799}"/>
              </a:ext>
            </a:extLst>
          </p:cNvPr>
          <p:cNvSpPr/>
          <p:nvPr/>
        </p:nvSpPr>
        <p:spPr>
          <a:xfrm>
            <a:off x="2460171" y="1258867"/>
            <a:ext cx="3635829" cy="4529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Concentration (ng/g)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C4507C0-585B-3063-EDD7-6102D81B54BA}"/>
              </a:ext>
            </a:extLst>
          </p:cNvPr>
          <p:cNvSpPr/>
          <p:nvPr/>
        </p:nvSpPr>
        <p:spPr>
          <a:xfrm>
            <a:off x="2460171" y="3040991"/>
            <a:ext cx="3635829" cy="94617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Leachate Concentration (ng/L)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5DD857A-3D1F-A992-BAC9-2EE49D979B7A}"/>
              </a:ext>
            </a:extLst>
          </p:cNvPr>
          <p:cNvSpPr/>
          <p:nvPr/>
        </p:nvSpPr>
        <p:spPr>
          <a:xfrm>
            <a:off x="2460171" y="5889916"/>
            <a:ext cx="3635829" cy="4529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 Concentration (ng/L)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24A3E81-6427-19EB-A5D5-8EA5958345D8}"/>
              </a:ext>
            </a:extLst>
          </p:cNvPr>
          <p:cNvCxnSpPr/>
          <p:nvPr/>
        </p:nvCxnSpPr>
        <p:spPr>
          <a:xfrm>
            <a:off x="217715" y="1212193"/>
            <a:ext cx="61504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075100-5875-289E-40F7-55DA5F99A222}"/>
              </a:ext>
            </a:extLst>
          </p:cNvPr>
          <p:cNvCxnSpPr/>
          <p:nvPr/>
        </p:nvCxnSpPr>
        <p:spPr>
          <a:xfrm>
            <a:off x="217715" y="1711847"/>
            <a:ext cx="61504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9F02D8-A551-A820-9671-F6382D942C0A}"/>
              </a:ext>
            </a:extLst>
          </p:cNvPr>
          <p:cNvCxnSpPr/>
          <p:nvPr/>
        </p:nvCxnSpPr>
        <p:spPr>
          <a:xfrm>
            <a:off x="217715" y="5706904"/>
            <a:ext cx="61504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8585595-5F79-6B33-FF2B-7EF9D31C0907}"/>
              </a:ext>
            </a:extLst>
          </p:cNvPr>
          <p:cNvSpPr txBox="1"/>
          <p:nvPr/>
        </p:nvSpPr>
        <p:spPr>
          <a:xfrm>
            <a:off x="9873342" y="611640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DF761F65-E566-E374-96A2-F768F262F0C1}"/>
              </a:ext>
            </a:extLst>
          </p:cNvPr>
          <p:cNvSpPr/>
          <p:nvPr/>
        </p:nvSpPr>
        <p:spPr>
          <a:xfrm flipV="1">
            <a:off x="8613120" y="5787724"/>
            <a:ext cx="1260222" cy="699429"/>
          </a:xfrm>
          <a:prstGeom prst="bentArrow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B3C165D8-2CA6-2F4B-CEF4-5C69FD49C494}"/>
              </a:ext>
            </a:extLst>
          </p:cNvPr>
          <p:cNvSpPr/>
          <p:nvPr/>
        </p:nvSpPr>
        <p:spPr>
          <a:xfrm>
            <a:off x="1052186" y="814712"/>
            <a:ext cx="325677" cy="444155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2B271DAB-EC80-F600-3C24-E4C88B8331F7}"/>
              </a:ext>
            </a:extLst>
          </p:cNvPr>
          <p:cNvSpPr/>
          <p:nvPr/>
        </p:nvSpPr>
        <p:spPr>
          <a:xfrm>
            <a:off x="1052185" y="1914087"/>
            <a:ext cx="325677" cy="943893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8C997F28-355D-6798-FC9B-6A6D21C2C044}"/>
              </a:ext>
            </a:extLst>
          </p:cNvPr>
          <p:cNvSpPr/>
          <p:nvPr/>
        </p:nvSpPr>
        <p:spPr>
          <a:xfrm>
            <a:off x="1052184" y="4153317"/>
            <a:ext cx="325677" cy="1370570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48986279-D344-6BF8-DC15-E9005C2BBE36}"/>
              </a:ext>
            </a:extLst>
          </p:cNvPr>
          <p:cNvSpPr/>
          <p:nvPr/>
        </p:nvSpPr>
        <p:spPr>
          <a:xfrm>
            <a:off x="4030339" y="812591"/>
            <a:ext cx="325677" cy="446276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1A3B0FD9-A26F-D2A9-144C-C18BD40D62AD}"/>
              </a:ext>
            </a:extLst>
          </p:cNvPr>
          <p:cNvSpPr/>
          <p:nvPr/>
        </p:nvSpPr>
        <p:spPr>
          <a:xfrm>
            <a:off x="4030338" y="1914087"/>
            <a:ext cx="325677" cy="943893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431226A8-E727-5A42-597D-1371C0936DD2}"/>
              </a:ext>
            </a:extLst>
          </p:cNvPr>
          <p:cNvSpPr/>
          <p:nvPr/>
        </p:nvSpPr>
        <p:spPr>
          <a:xfrm>
            <a:off x="4030337" y="4153317"/>
            <a:ext cx="325677" cy="1370570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A6C1F26-A8F6-CF94-1349-C5090616F267}"/>
              </a:ext>
            </a:extLst>
          </p:cNvPr>
          <p:cNvSpPr txBox="1"/>
          <p:nvPr/>
        </p:nvSpPr>
        <p:spPr>
          <a:xfrm>
            <a:off x="6204807" y="269476"/>
            <a:ext cx="5872002" cy="446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3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1: Biosolids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Application Simulation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*</a:t>
            </a:r>
            <a:endParaRPr kumimoji="0" lang="en-CN" sz="2300" b="1" i="0" u="none" strike="noStrike" kern="1200" cap="none" spc="0" normalizeH="0" baseline="30000" noProof="0" dirty="0">
              <a:ln>
                <a:noFill/>
              </a:ln>
              <a:solidFill>
                <a:srgbClr val="1F386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88D4C7-939F-A76E-8044-D6444759F535}"/>
              </a:ext>
            </a:extLst>
          </p:cNvPr>
          <p:cNvSpPr txBox="1"/>
          <p:nvPr/>
        </p:nvSpPr>
        <p:spPr>
          <a:xfrm>
            <a:off x="41350" y="652092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Sepulvado et al., 2011 </a:t>
            </a:r>
            <a:endParaRPr lang="en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8BD253-5142-B56E-DFAA-2F0A967FD9D4}"/>
              </a:ext>
            </a:extLst>
          </p:cNvPr>
          <p:cNvSpPr txBox="1"/>
          <p:nvPr/>
        </p:nvSpPr>
        <p:spPr>
          <a:xfrm>
            <a:off x="1744871" y="814712"/>
            <a:ext cx="17278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101B2C-D6A8-689B-6CA9-FE9590EFB14F}"/>
              </a:ext>
            </a:extLst>
          </p:cNvPr>
          <p:cNvSpPr txBox="1"/>
          <p:nvPr/>
        </p:nvSpPr>
        <p:spPr>
          <a:xfrm>
            <a:off x="1744870" y="1904846"/>
            <a:ext cx="172781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by HYDRUS</a:t>
            </a:r>
          </a:p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(Linear model)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DF78A0-8665-ADD5-9D77-372825847D0A}"/>
              </a:ext>
            </a:extLst>
          </p:cNvPr>
          <p:cNvSpPr txBox="1"/>
          <p:nvPr/>
        </p:nvSpPr>
        <p:spPr>
          <a:xfrm>
            <a:off x="1744870" y="4331578"/>
            <a:ext cx="172781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Dilution Attenuation Factors</a:t>
            </a:r>
          </a:p>
        </p:txBody>
      </p:sp>
    </p:spTree>
    <p:extLst>
      <p:ext uri="{BB962C8B-B14F-4D97-AF65-F5344CB8AC3E}">
        <p14:creationId xmlns:p14="http://schemas.microsoft.com/office/powerpoint/2010/main" val="1791994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2D79E-881F-4020-10E3-FBCA00B7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4320D97-F8EC-6267-60EC-A728462BFABC}"/>
              </a:ext>
            </a:extLst>
          </p:cNvPr>
          <p:cNvGrpSpPr/>
          <p:nvPr/>
        </p:nvGrpSpPr>
        <p:grpSpPr>
          <a:xfrm>
            <a:off x="6302832" y="678791"/>
            <a:ext cx="5752205" cy="5257800"/>
            <a:chOff x="5259236" y="424543"/>
            <a:chExt cx="3870532" cy="35378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83EA288-A802-E40E-AC3B-F93B7311A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80881" b="11123"/>
            <a:stretch/>
          </p:blipFill>
          <p:spPr>
            <a:xfrm>
              <a:off x="5259236" y="424543"/>
              <a:ext cx="1049133" cy="35378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A11557-8A12-3225-5B95-DEDA0045D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871" t="7657" b="11123"/>
            <a:stretch/>
          </p:blipFill>
          <p:spPr>
            <a:xfrm>
              <a:off x="6269252" y="729343"/>
              <a:ext cx="2860516" cy="3233058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48515A2-A658-B2AB-E5CC-19893C436786}"/>
              </a:ext>
            </a:extLst>
          </p:cNvPr>
          <p:cNvSpPr txBox="1"/>
          <p:nvPr/>
        </p:nvSpPr>
        <p:spPr>
          <a:xfrm>
            <a:off x="6557642" y="1373293"/>
            <a:ext cx="1197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(Top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cm)</a:t>
            </a:r>
            <a:endParaRPr lang="en-CN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56B9EFD-2506-9266-C33B-C8EB0CB9D83A}"/>
              </a:ext>
            </a:extLst>
          </p:cNvPr>
          <p:cNvSpPr/>
          <p:nvPr/>
        </p:nvSpPr>
        <p:spPr>
          <a:xfrm>
            <a:off x="457200" y="341806"/>
            <a:ext cx="1557982" cy="4529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Biosolids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C4CEC1-3BF6-BCF6-A727-270041AA618D}"/>
              </a:ext>
            </a:extLst>
          </p:cNvPr>
          <p:cNvSpPr/>
          <p:nvPr/>
        </p:nvSpPr>
        <p:spPr>
          <a:xfrm>
            <a:off x="457200" y="1258867"/>
            <a:ext cx="1557982" cy="4529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Topsoil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637736-5750-9E98-E4E2-F22D1DC4946D}"/>
              </a:ext>
            </a:extLst>
          </p:cNvPr>
          <p:cNvSpPr/>
          <p:nvPr/>
        </p:nvSpPr>
        <p:spPr>
          <a:xfrm>
            <a:off x="456010" y="3040991"/>
            <a:ext cx="1559172" cy="94617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Leaching from Topsoil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F50B5F1-1C6A-D9AA-E39D-01FE3F9DC3D7}"/>
              </a:ext>
            </a:extLst>
          </p:cNvPr>
          <p:cNvSpPr/>
          <p:nvPr/>
        </p:nvSpPr>
        <p:spPr>
          <a:xfrm>
            <a:off x="456009" y="5889916"/>
            <a:ext cx="1559173" cy="4529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3D316A-B10F-5C50-D409-DE941F92A6F0}"/>
              </a:ext>
            </a:extLst>
          </p:cNvPr>
          <p:cNvSpPr/>
          <p:nvPr/>
        </p:nvSpPr>
        <p:spPr>
          <a:xfrm>
            <a:off x="2460171" y="341806"/>
            <a:ext cx="3635829" cy="4529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Biosolids Loading Rate (Mg/ha)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42AD775-68FC-ADA0-E2DC-C413C8F34A57}"/>
              </a:ext>
            </a:extLst>
          </p:cNvPr>
          <p:cNvSpPr/>
          <p:nvPr/>
        </p:nvSpPr>
        <p:spPr>
          <a:xfrm>
            <a:off x="2460171" y="1258867"/>
            <a:ext cx="3635829" cy="4529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Concentration (ng/g)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73D8825-319C-68BE-7910-546CC787E2F0}"/>
              </a:ext>
            </a:extLst>
          </p:cNvPr>
          <p:cNvSpPr/>
          <p:nvPr/>
        </p:nvSpPr>
        <p:spPr>
          <a:xfrm>
            <a:off x="2460171" y="3040991"/>
            <a:ext cx="3635829" cy="94617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Leachate Concentration (ng/L)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3C9E4F5-193C-AF44-3566-E6878351E5E1}"/>
              </a:ext>
            </a:extLst>
          </p:cNvPr>
          <p:cNvSpPr/>
          <p:nvPr/>
        </p:nvSpPr>
        <p:spPr>
          <a:xfrm>
            <a:off x="2460171" y="5889916"/>
            <a:ext cx="3635829" cy="452980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Groundwater Concentration (ng/L)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9D6133-95C1-3981-3CC1-06B830F2173B}"/>
              </a:ext>
            </a:extLst>
          </p:cNvPr>
          <p:cNvCxnSpPr/>
          <p:nvPr/>
        </p:nvCxnSpPr>
        <p:spPr>
          <a:xfrm>
            <a:off x="217715" y="1212193"/>
            <a:ext cx="61504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8EAC63-B515-8F64-4ED4-1485ED98BA10}"/>
              </a:ext>
            </a:extLst>
          </p:cNvPr>
          <p:cNvCxnSpPr/>
          <p:nvPr/>
        </p:nvCxnSpPr>
        <p:spPr>
          <a:xfrm>
            <a:off x="217715" y="1711847"/>
            <a:ext cx="61504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1FC8375-2EB9-2384-1F6C-AB685CE958B8}"/>
              </a:ext>
            </a:extLst>
          </p:cNvPr>
          <p:cNvCxnSpPr/>
          <p:nvPr/>
        </p:nvCxnSpPr>
        <p:spPr>
          <a:xfrm>
            <a:off x="217715" y="5706904"/>
            <a:ext cx="61504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4F102E6-1E95-AAB5-D58A-692F6BF466DA}"/>
              </a:ext>
            </a:extLst>
          </p:cNvPr>
          <p:cNvSpPr txBox="1"/>
          <p:nvPr/>
        </p:nvSpPr>
        <p:spPr>
          <a:xfrm>
            <a:off x="9873342" y="611640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8F643D91-A7D5-8057-FE1A-40EE577B3F03}"/>
              </a:ext>
            </a:extLst>
          </p:cNvPr>
          <p:cNvSpPr/>
          <p:nvPr/>
        </p:nvSpPr>
        <p:spPr>
          <a:xfrm flipV="1">
            <a:off x="8613120" y="5787724"/>
            <a:ext cx="1260222" cy="699429"/>
          </a:xfrm>
          <a:prstGeom prst="bentArrow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33" name="Down Arrow 32">
            <a:extLst>
              <a:ext uri="{FF2B5EF4-FFF2-40B4-BE49-F238E27FC236}">
                <a16:creationId xmlns:a16="http://schemas.microsoft.com/office/drawing/2014/main" id="{BE41E132-DA1E-6BA1-176F-FDDAD7A40340}"/>
              </a:ext>
            </a:extLst>
          </p:cNvPr>
          <p:cNvSpPr/>
          <p:nvPr/>
        </p:nvSpPr>
        <p:spPr>
          <a:xfrm>
            <a:off x="1052186" y="814712"/>
            <a:ext cx="325677" cy="444155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50660E05-26E1-3C60-C277-214DA581AB94}"/>
              </a:ext>
            </a:extLst>
          </p:cNvPr>
          <p:cNvSpPr/>
          <p:nvPr/>
        </p:nvSpPr>
        <p:spPr>
          <a:xfrm>
            <a:off x="1052185" y="1914087"/>
            <a:ext cx="325677" cy="943893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729DF2F3-2E8F-C5CA-E396-67780BDC6501}"/>
              </a:ext>
            </a:extLst>
          </p:cNvPr>
          <p:cNvSpPr/>
          <p:nvPr/>
        </p:nvSpPr>
        <p:spPr>
          <a:xfrm>
            <a:off x="1052184" y="4153317"/>
            <a:ext cx="325677" cy="1370570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E8BD3422-E17E-CC32-8793-D29D8C6970C7}"/>
              </a:ext>
            </a:extLst>
          </p:cNvPr>
          <p:cNvSpPr/>
          <p:nvPr/>
        </p:nvSpPr>
        <p:spPr>
          <a:xfrm>
            <a:off x="4030339" y="812591"/>
            <a:ext cx="325677" cy="446276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3E4236E6-1E06-C3B8-1306-4FB54FBCF763}"/>
              </a:ext>
            </a:extLst>
          </p:cNvPr>
          <p:cNvSpPr/>
          <p:nvPr/>
        </p:nvSpPr>
        <p:spPr>
          <a:xfrm>
            <a:off x="4030338" y="1914087"/>
            <a:ext cx="325677" cy="943893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30012C03-C17A-4F5B-42A5-997947D3BF01}"/>
              </a:ext>
            </a:extLst>
          </p:cNvPr>
          <p:cNvSpPr/>
          <p:nvPr/>
        </p:nvSpPr>
        <p:spPr>
          <a:xfrm>
            <a:off x="4030337" y="4153317"/>
            <a:ext cx="325677" cy="1370570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73E1C4-A242-3202-F98E-B07375E9E669}"/>
              </a:ext>
            </a:extLst>
          </p:cNvPr>
          <p:cNvSpPr txBox="1"/>
          <p:nvPr/>
        </p:nvSpPr>
        <p:spPr>
          <a:xfrm>
            <a:off x="41350" y="6520921"/>
            <a:ext cx="2222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* Sepulvado et al., 2011 </a:t>
            </a:r>
            <a:endParaRPr lang="en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6B4FE4-7A32-3B2C-4D9E-BC75854551EF}"/>
              </a:ext>
            </a:extLst>
          </p:cNvPr>
          <p:cNvSpPr txBox="1"/>
          <p:nvPr/>
        </p:nvSpPr>
        <p:spPr>
          <a:xfrm>
            <a:off x="1744871" y="814712"/>
            <a:ext cx="172781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4C3FC5-1CFD-F964-3097-C9879771F008}"/>
              </a:ext>
            </a:extLst>
          </p:cNvPr>
          <p:cNvSpPr txBox="1"/>
          <p:nvPr/>
        </p:nvSpPr>
        <p:spPr>
          <a:xfrm>
            <a:off x="1744870" y="1904846"/>
            <a:ext cx="172781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by HYDRUS</a:t>
            </a:r>
          </a:p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(Linear model)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876F54-20B1-26F5-535D-E2BE1FCD06DE}"/>
              </a:ext>
            </a:extLst>
          </p:cNvPr>
          <p:cNvSpPr txBox="1"/>
          <p:nvPr/>
        </p:nvSpPr>
        <p:spPr>
          <a:xfrm>
            <a:off x="1744870" y="4331578"/>
            <a:ext cx="172781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Dilution Attenuation Factors</a:t>
            </a:r>
          </a:p>
        </p:txBody>
      </p:sp>
    </p:spTree>
    <p:extLst>
      <p:ext uri="{BB962C8B-B14F-4D97-AF65-F5344CB8AC3E}">
        <p14:creationId xmlns:p14="http://schemas.microsoft.com/office/powerpoint/2010/main" val="334760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84AB0C-2881-BDD8-50EA-1D5564F81EDF}"/>
              </a:ext>
            </a:extLst>
          </p:cNvPr>
          <p:cNvSpPr txBox="1"/>
          <p:nvPr/>
        </p:nvSpPr>
        <p:spPr>
          <a:xfrm>
            <a:off x="6204807" y="269476"/>
            <a:ext cx="5872002" cy="4462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3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Step 1: Biosolids</a:t>
            </a: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2300" b="1" i="0" u="none" strike="noStrike" kern="1200" cap="none" spc="0" normalizeH="0" baseline="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Application Simulation</a:t>
            </a:r>
            <a:r>
              <a:rPr kumimoji="0" lang="en-US" altLang="zh-CN" sz="2300" b="1" i="0" u="none" strike="noStrike" kern="1200" cap="none" spc="0" normalizeH="0" baseline="30000" noProof="0" dirty="0">
                <a:ln>
                  <a:noFill/>
                </a:ln>
                <a:solidFill>
                  <a:srgbClr val="1F3863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+mn-cs"/>
              </a:rPr>
              <a:t>*</a:t>
            </a:r>
            <a:endParaRPr kumimoji="0" lang="en-CN" sz="2300" b="1" i="0" u="none" strike="noStrike" kern="1200" cap="none" spc="0" normalizeH="0" baseline="30000" noProof="0" dirty="0">
              <a:ln>
                <a:noFill/>
              </a:ln>
              <a:solidFill>
                <a:srgbClr val="1F386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7A289C-83E9-C161-C36C-A1D593D4B08D}"/>
              </a:ext>
            </a:extLst>
          </p:cNvPr>
          <p:cNvGrpSpPr/>
          <p:nvPr/>
        </p:nvGrpSpPr>
        <p:grpSpPr>
          <a:xfrm>
            <a:off x="6324604" y="678791"/>
            <a:ext cx="5752205" cy="5257800"/>
            <a:chOff x="5259236" y="424543"/>
            <a:chExt cx="3870532" cy="35378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07F9EEC-F37C-2516-3D10-DF0C62F8B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0881" b="11123"/>
            <a:stretch/>
          </p:blipFill>
          <p:spPr>
            <a:xfrm>
              <a:off x="5259236" y="424543"/>
              <a:ext cx="1049133" cy="353785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1AD2692-B718-E31E-4E6B-B76E38A56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871" t="7657" b="11123"/>
            <a:stretch/>
          </p:blipFill>
          <p:spPr>
            <a:xfrm>
              <a:off x="6269252" y="729343"/>
              <a:ext cx="2860516" cy="323305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7787070-6279-27CD-4ED1-E7691941882F}"/>
              </a:ext>
            </a:extLst>
          </p:cNvPr>
          <p:cNvSpPr txBox="1"/>
          <p:nvPr/>
        </p:nvSpPr>
        <p:spPr>
          <a:xfrm>
            <a:off x="6579414" y="1373293"/>
            <a:ext cx="1197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(Top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cm)</a:t>
            </a:r>
            <a:endParaRPr lang="en-CN" sz="16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45CB5E-92CF-2A11-E7FE-4247E685CF30}"/>
              </a:ext>
            </a:extLst>
          </p:cNvPr>
          <p:cNvSpPr txBox="1"/>
          <p:nvPr/>
        </p:nvSpPr>
        <p:spPr>
          <a:xfrm>
            <a:off x="9873342" y="611640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Groundwater</a:t>
            </a:r>
          </a:p>
        </p:txBody>
      </p:sp>
      <p:sp>
        <p:nvSpPr>
          <p:cNvPr id="10" name="Bent Arrow 9">
            <a:extLst>
              <a:ext uri="{FF2B5EF4-FFF2-40B4-BE49-F238E27FC236}">
                <a16:creationId xmlns:a16="http://schemas.microsoft.com/office/drawing/2014/main" id="{DC8C76F9-8E85-C084-22CC-7FC62F527F17}"/>
              </a:ext>
            </a:extLst>
          </p:cNvPr>
          <p:cNvSpPr/>
          <p:nvPr/>
        </p:nvSpPr>
        <p:spPr>
          <a:xfrm flipV="1">
            <a:off x="8613120" y="5787724"/>
            <a:ext cx="1260222" cy="699429"/>
          </a:xfrm>
          <a:prstGeom prst="bentArrow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9E0A61-37FF-7E9C-374D-350338164874}"/>
              </a:ext>
            </a:extLst>
          </p:cNvPr>
          <p:cNvSpPr txBox="1"/>
          <p:nvPr/>
        </p:nvSpPr>
        <p:spPr>
          <a:xfrm>
            <a:off x="663879" y="2518518"/>
            <a:ext cx="5540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/>
              <a:t>Biosolids data </a:t>
            </a:r>
          </a:p>
          <a:p>
            <a:endParaRPr lang="en-CN" dirty="0"/>
          </a:p>
          <a:p>
            <a:r>
              <a:rPr lang="en-CN" b="1" dirty="0"/>
              <a:t>Soil sample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biosolid-augmented agricultural soil from the Great Lakes basin of North America (Chu et al., 2017)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1F1F"/>
                </a:solidFill>
                <a:latin typeface="ElsevierGulliver"/>
              </a:rPr>
              <a:t>7 soil samples from our previous studies</a:t>
            </a:r>
            <a:endParaRPr lang="en-US" b="0" i="0" dirty="0">
              <a:solidFill>
                <a:srgbClr val="1F1F1F"/>
              </a:solidFill>
              <a:effectLst/>
              <a:latin typeface="ElsevierGulliv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88963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4C065C-0830-C1F7-A362-23F135785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45" y="0"/>
            <a:ext cx="5487362" cy="3980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BEEAB0-2AAD-B0DA-9CD6-9FF1C8A08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3879"/>
            <a:ext cx="5602056" cy="3476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924719-F5AA-FA62-7604-3983A0F9A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8286" y="4020502"/>
            <a:ext cx="4684274" cy="2837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BC6AB4-726F-8A6C-0591-A3B03F3915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4445" y="4020502"/>
            <a:ext cx="4684276" cy="28374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140CB8-5D39-EA30-434A-8F1E7384CD8F}"/>
              </a:ext>
            </a:extLst>
          </p:cNvPr>
          <p:cNvSpPr txBox="1"/>
          <p:nvPr/>
        </p:nvSpPr>
        <p:spPr>
          <a:xfrm>
            <a:off x="5767450" y="94664"/>
            <a:ext cx="197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Single Application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1F762-1DB6-9499-A896-9004E34D05DF}"/>
              </a:ext>
            </a:extLst>
          </p:cNvPr>
          <p:cNvSpPr txBox="1"/>
          <p:nvPr/>
        </p:nvSpPr>
        <p:spPr>
          <a:xfrm>
            <a:off x="244791" y="4543016"/>
            <a:ext cx="1431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Multiple </a:t>
            </a:r>
          </a:p>
          <a:p>
            <a:r>
              <a:rPr lang="en-CN" dirty="0"/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CE1087-D1D1-8727-9D7A-CD7D889F56EB}"/>
              </a:ext>
            </a:extLst>
          </p:cNvPr>
          <p:cNvSpPr txBox="1"/>
          <p:nvPr/>
        </p:nvSpPr>
        <p:spPr>
          <a:xfrm>
            <a:off x="1845751" y="3363684"/>
            <a:ext cx="10491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homogeneity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D479AB-CC91-2988-9F93-C8A0706B18F4}"/>
              </a:ext>
            </a:extLst>
          </p:cNvPr>
          <p:cNvSpPr txBox="1"/>
          <p:nvPr/>
        </p:nvSpPr>
        <p:spPr>
          <a:xfrm>
            <a:off x="852032" y="3372740"/>
            <a:ext cx="10943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heterogene</a:t>
            </a:r>
            <a:r>
              <a:rPr lang="en-CN" sz="1200" dirty="0"/>
              <a:t>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FC47E5-5FA3-AE89-CAF0-AA995B3078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503879"/>
            <a:ext cx="5674783" cy="34374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8F737E-2826-6A99-701A-8E13B341C4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8286" y="4003403"/>
            <a:ext cx="4684274" cy="283749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A6D232F-DA32-F40B-F6C2-21A8412BB2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4445" y="4000240"/>
            <a:ext cx="4684278" cy="283749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9695AC6-E556-F64F-63BF-34FE43631C0E}"/>
              </a:ext>
            </a:extLst>
          </p:cNvPr>
          <p:cNvSpPr txBox="1"/>
          <p:nvPr/>
        </p:nvSpPr>
        <p:spPr>
          <a:xfrm>
            <a:off x="4145280" y="586740"/>
            <a:ext cx="946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(Top</a:t>
            </a:r>
            <a:r>
              <a:rPr lang="zh-CN" altLang="en-US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en-US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cm)</a:t>
            </a:r>
            <a:endParaRPr lang="en-CN" sz="12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098CB10-A940-12A9-2EED-07DBF3ABA0CF}"/>
              </a:ext>
            </a:extLst>
          </p:cNvPr>
          <p:cNvSpPr/>
          <p:nvPr/>
        </p:nvSpPr>
        <p:spPr>
          <a:xfrm>
            <a:off x="1422558" y="661721"/>
            <a:ext cx="104092" cy="10409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D006FF-FA45-082E-4C87-6DB60A564E8E}"/>
              </a:ext>
            </a:extLst>
          </p:cNvPr>
          <p:cNvSpPr/>
          <p:nvPr/>
        </p:nvSpPr>
        <p:spPr>
          <a:xfrm>
            <a:off x="2266225" y="658768"/>
            <a:ext cx="104092" cy="10409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6911A6-CA57-D640-1908-C8F279F9D7B5}"/>
              </a:ext>
            </a:extLst>
          </p:cNvPr>
          <p:cNvSpPr txBox="1"/>
          <p:nvPr/>
        </p:nvSpPr>
        <p:spPr>
          <a:xfrm>
            <a:off x="-42998" y="569486"/>
            <a:ext cx="12118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point 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3DA356C-CEF5-C0B9-2260-6F417A7E7056}"/>
              </a:ext>
            </a:extLst>
          </p:cNvPr>
          <p:cNvSpPr/>
          <p:nvPr/>
        </p:nvSpPr>
        <p:spPr>
          <a:xfrm>
            <a:off x="1417949" y="3297948"/>
            <a:ext cx="104092" cy="10409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0A513FD-45E9-0EE6-94D1-7C3DA60BE743}"/>
              </a:ext>
            </a:extLst>
          </p:cNvPr>
          <p:cNvSpPr/>
          <p:nvPr/>
        </p:nvSpPr>
        <p:spPr>
          <a:xfrm>
            <a:off x="2261616" y="3294995"/>
            <a:ext cx="104092" cy="10409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2EE7487-27AC-7090-5F21-E767FFA5C61A}"/>
              </a:ext>
            </a:extLst>
          </p:cNvPr>
          <p:cNvSpPr txBox="1"/>
          <p:nvPr/>
        </p:nvSpPr>
        <p:spPr>
          <a:xfrm>
            <a:off x="-47607" y="3093125"/>
            <a:ext cx="12118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05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 point 2</a:t>
            </a:r>
          </a:p>
        </p:txBody>
      </p:sp>
    </p:spTree>
    <p:extLst>
      <p:ext uri="{BB962C8B-B14F-4D97-AF65-F5344CB8AC3E}">
        <p14:creationId xmlns:p14="http://schemas.microsoft.com/office/powerpoint/2010/main" val="71938033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269</Words>
  <Application>Microsoft Macintosh PowerPoint</Application>
  <PresentationFormat>Widescreen</PresentationFormat>
  <Paragraphs>67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ElsevierGulliver</vt:lpstr>
      <vt:lpstr>Aptos</vt:lpstr>
      <vt:lpstr>Aptos Display</vt:lpstr>
      <vt:lpstr>Arial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稼禾 田</dc:creator>
  <cp:lastModifiedBy>稼禾 田</cp:lastModifiedBy>
  <cp:revision>4</cp:revision>
  <dcterms:created xsi:type="dcterms:W3CDTF">2025-04-16T11:48:40Z</dcterms:created>
  <dcterms:modified xsi:type="dcterms:W3CDTF">2025-05-30T15:26:24Z</dcterms:modified>
</cp:coreProperties>
</file>