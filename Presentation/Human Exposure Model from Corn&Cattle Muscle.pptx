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1AB3E-36F6-DBEC-9BE0-08CBA0D04F5A}" v="139" dt="2024-11-15T17:59:23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C953-E6C4-47B7-0CD6-F3145A7B6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49EE5-EB0A-135B-8834-A5B0641C7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E7C52-9030-EE04-98B6-210E795F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203D-6A4A-B2C9-3D78-7D32A170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E5C24-9CFB-4E58-215A-A38121AB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7576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8F54-622B-ABC2-974A-F3C1239E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16FD-87AD-3A10-FD56-90342BE7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59A28-6549-7906-68DB-1280393C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54744-E4AE-D44E-C9F0-F11B99BB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B9F4E-E828-6FAE-2A49-9BBBA2FF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357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362D-4E7D-5637-B449-8EE7DF23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131B8-62E8-C504-595E-75025A7D5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9AF1-0583-640B-DBED-9DA1465B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C0431-A8FB-01FE-B46C-E9512972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3A5D0-E192-730E-A0E8-09DA6FBF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725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3197-A966-316A-5618-8D955651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17F69-6DD5-65DE-E123-B6CF35F6D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45156-A3C7-C289-A5AF-6CE8513DE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FD927-27AE-E441-95CC-86AC70C1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8A8D3-F0B7-11E2-B2A4-619904F1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A5C2E-5584-B18C-1DF6-F2FEA615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5427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476B-7255-C648-01B1-E45466A2A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9EEE0-E20C-EA23-AE44-47FC72D7F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DE51C-AD3D-A4BC-8214-3E8F9F98B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C8C0A-D5FD-F9D4-3FB1-822DC1BD6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42962-B303-D33A-2C75-D7168F9B8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E1E03-054E-F1B8-3785-EBFEC20AE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A8C1B-72D7-6009-61E6-04AF7EB7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27DD5-1EB9-1401-D33A-AF3BBB4B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789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620B-1E2B-7AF9-DC62-6ED15CC6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A1124B-197C-363C-2C2A-24958CD6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61D75-660A-384A-A924-1E172647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1317B-7A69-561E-9B6F-1AD7512F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802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EEF9B-96C7-0DC2-C1C0-898EBC78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7C79A-C208-365D-ECD1-941079CB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08924-535F-C966-0378-AE3FDF53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171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294C-BA31-3888-4D24-D9085AFD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EF19C-8BDE-C1CE-12B1-64BC27EB3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459EB-E622-E415-5C75-7C7D85F50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54477-B8C5-8527-BC7D-6B98531E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BD055-C8AB-5487-76F6-3916B9F0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FA8AA-0CF6-425E-1062-9226B1A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5947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6516-EB67-8702-7E30-C3119A8A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59E3A-7157-8389-D47D-704D2C721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191CE-B4EE-0854-681E-868344F14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363A0-9F1D-6D0F-DA9F-148AB45D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3EC3D-B56C-2BAB-7F3E-C82D83BA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E2EAF-3B37-40CD-8BE9-DBA841C7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2487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7DC4-8D7E-3817-D3E7-48349F24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635BE-208A-F5DF-7218-3C9A8777B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DF19-1AD8-F9D3-883D-81DAF532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034AE-0770-5899-0790-DF55A94D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E01DB-989F-574F-FAFB-9286386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38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0934E-B009-378C-17CD-03B14189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7356D-C23D-1C2F-FF98-922B38739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9EF1-E12B-6ADE-46F1-E461E06F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388B-7BAD-A522-E3F2-302696FB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4751-56B9-DF90-86FB-81E427A3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4224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E4949-5647-57B6-BCBC-96FAF98D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9AEED-AE93-7FFE-60A1-BE4DC9D4C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AF42C-B6E5-5923-E94C-E6340412E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F6238-DDFE-1942-8B13-DFD2065A9EF5}" type="datetimeFigureOut">
              <a:rPr lang="en-CN" smtClean="0"/>
              <a:t>11/15/2024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3064C-96D3-802B-C570-EDFE5C246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82897-BC37-4D3C-AFB2-B2595FD8D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26B0D-9046-8644-9A27-E87E083BFB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769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B174-279C-1F46-D05B-8836A22F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6D2E34-F2CF-AA0F-98D4-D4504C82C5C3}"/>
              </a:ext>
            </a:extLst>
          </p:cNvPr>
          <p:cNvSpPr/>
          <p:nvPr/>
        </p:nvSpPr>
        <p:spPr>
          <a:xfrm>
            <a:off x="1639122" y="1767039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Concentration in Soil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BC27974-A606-4058-86FB-7E923AFAC8AF}"/>
              </a:ext>
            </a:extLst>
          </p:cNvPr>
          <p:cNvSpPr/>
          <p:nvPr/>
        </p:nvSpPr>
        <p:spPr>
          <a:xfrm rot="5400000">
            <a:off x="2220238" y="2941620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ECE7F7-54DC-9AA9-4063-C012EF68CCA2}"/>
              </a:ext>
            </a:extLst>
          </p:cNvPr>
          <p:cNvSpPr/>
          <p:nvPr/>
        </p:nvSpPr>
        <p:spPr>
          <a:xfrm>
            <a:off x="1639122" y="3761632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Uptake into corn plant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227344-D313-C0B7-E4B9-0F54A92582C3}"/>
              </a:ext>
            </a:extLst>
          </p:cNvPr>
          <p:cNvSpPr/>
          <p:nvPr/>
        </p:nvSpPr>
        <p:spPr>
          <a:xfrm>
            <a:off x="4855501" y="2847235"/>
            <a:ext cx="1129915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Corn stover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FF0CCC7-9834-B996-7A58-D8DD72CB2D95}"/>
              </a:ext>
            </a:extLst>
          </p:cNvPr>
          <p:cNvSpPr/>
          <p:nvPr/>
        </p:nvSpPr>
        <p:spPr>
          <a:xfrm>
            <a:off x="5655701" y="4474027"/>
            <a:ext cx="133629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Corn products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85EB77-3E2F-A61A-ACB1-BE46A43E4DA4}"/>
              </a:ext>
            </a:extLst>
          </p:cNvPr>
          <p:cNvSpPr/>
          <p:nvPr/>
        </p:nvSpPr>
        <p:spPr>
          <a:xfrm>
            <a:off x="6563620" y="2847235"/>
            <a:ext cx="133629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Cattle Muscle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CB1D72-B89A-0CCC-CFE9-4C28D99C09C1}"/>
              </a:ext>
            </a:extLst>
          </p:cNvPr>
          <p:cNvSpPr/>
          <p:nvPr/>
        </p:nvSpPr>
        <p:spPr>
          <a:xfrm>
            <a:off x="8452098" y="3756807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Exposure to Humans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0D60F84-43B2-F6B0-38B8-E52D5E387B54}"/>
              </a:ext>
            </a:extLst>
          </p:cNvPr>
          <p:cNvSpPr/>
          <p:nvPr/>
        </p:nvSpPr>
        <p:spPr>
          <a:xfrm rot="19890112">
            <a:off x="3876412" y="3282042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E0D0EF8-8304-21B8-98C9-4B8466D764C1}"/>
              </a:ext>
            </a:extLst>
          </p:cNvPr>
          <p:cNvSpPr/>
          <p:nvPr/>
        </p:nvSpPr>
        <p:spPr>
          <a:xfrm rot="662372">
            <a:off x="3958297" y="4616933"/>
            <a:ext cx="1571396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9CCB954-4527-0DDA-9529-B5E629A2328F}"/>
              </a:ext>
            </a:extLst>
          </p:cNvPr>
          <p:cNvSpPr/>
          <p:nvPr/>
        </p:nvSpPr>
        <p:spPr>
          <a:xfrm>
            <a:off x="6049888" y="3036234"/>
            <a:ext cx="405342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714E4AC0-ADC8-630A-140D-AAC91AD55B19}"/>
              </a:ext>
            </a:extLst>
          </p:cNvPr>
          <p:cNvSpPr/>
          <p:nvPr/>
        </p:nvSpPr>
        <p:spPr>
          <a:xfrm rot="1132529">
            <a:off x="8026579" y="3251243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CA542DE-8A50-C08B-E415-380CB99DF36B}"/>
              </a:ext>
            </a:extLst>
          </p:cNvPr>
          <p:cNvSpPr/>
          <p:nvPr/>
        </p:nvSpPr>
        <p:spPr>
          <a:xfrm rot="20339699">
            <a:off x="7276161" y="4557716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A1CFC3-1D85-1280-1F00-AEC6CEF1BDCE}"/>
              </a:ext>
            </a:extLst>
          </p:cNvPr>
          <p:cNvSpPr txBox="1"/>
          <p:nvPr/>
        </p:nvSpPr>
        <p:spPr>
          <a:xfrm>
            <a:off x="569419" y="510951"/>
            <a:ext cx="113830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Human Exposure Model from Corn/Cattle Muscle </a:t>
            </a:r>
          </a:p>
        </p:txBody>
      </p:sp>
    </p:spTree>
    <p:extLst>
      <p:ext uri="{BB962C8B-B14F-4D97-AF65-F5344CB8AC3E}">
        <p14:creationId xmlns:p14="http://schemas.microsoft.com/office/powerpoint/2010/main" val="376301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4BF2-322C-B1CC-CFFE-29031530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From Soil to Corn Plant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0E9811-66EA-5CFE-4D4C-799941FA719C}"/>
              </a:ext>
            </a:extLst>
          </p:cNvPr>
          <p:cNvSpPr/>
          <p:nvPr/>
        </p:nvSpPr>
        <p:spPr>
          <a:xfrm>
            <a:off x="838200" y="1908554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Concentration in Soil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BC536E6-6F89-2E96-29A8-62F45DA60CAA}"/>
              </a:ext>
            </a:extLst>
          </p:cNvPr>
          <p:cNvSpPr/>
          <p:nvPr/>
        </p:nvSpPr>
        <p:spPr>
          <a:xfrm rot="5400000">
            <a:off x="1419316" y="3162910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0BC5FF-3DF9-3B1B-9AAD-AD3115C4D73E}"/>
              </a:ext>
            </a:extLst>
          </p:cNvPr>
          <p:cNvSpPr/>
          <p:nvPr/>
        </p:nvSpPr>
        <p:spPr>
          <a:xfrm>
            <a:off x="838200" y="3903147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Uptake into corn plant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3A88A-F807-EE7C-BC8E-1E00DC4EB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72330"/>
            <a:ext cx="2653418" cy="102054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C710B3-DB91-C095-5EC7-B0B47C875606}"/>
              </a:ext>
            </a:extLst>
          </p:cNvPr>
          <p:cNvSpPr/>
          <p:nvPr/>
        </p:nvSpPr>
        <p:spPr>
          <a:xfrm>
            <a:off x="761999" y="5255483"/>
            <a:ext cx="740229" cy="1284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8AB564-F463-DE5A-AC45-45CEAE063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37933"/>
              </p:ext>
            </p:extLst>
          </p:nvPr>
        </p:nvGraphicFramePr>
        <p:xfrm>
          <a:off x="3906156" y="2107032"/>
          <a:ext cx="7904844" cy="2400300"/>
        </p:xfrm>
        <a:graphic>
          <a:graphicData uri="http://schemas.openxmlformats.org/drawingml/2006/table">
            <a:tbl>
              <a:tblPr/>
              <a:tblGrid>
                <a:gridCol w="545143">
                  <a:extLst>
                    <a:ext uri="{9D8B030D-6E8A-4147-A177-3AD203B41FA5}">
                      <a16:colId xmlns:a16="http://schemas.microsoft.com/office/drawing/2014/main" val="29983962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63436653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93326044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05860509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6096598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64317716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26349734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183189849"/>
                    </a:ext>
                  </a:extLst>
                </a:gridCol>
                <a:gridCol w="615443">
                  <a:extLst>
                    <a:ext uri="{9D8B030D-6E8A-4147-A177-3AD203B41FA5}">
                      <a16:colId xmlns:a16="http://schemas.microsoft.com/office/drawing/2014/main" val="1534821024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594318792"/>
                    </a:ext>
                  </a:extLst>
                </a:gridCol>
                <a:gridCol w="446314">
                  <a:extLst>
                    <a:ext uri="{9D8B030D-6E8A-4147-A177-3AD203B41FA5}">
                      <a16:colId xmlns:a16="http://schemas.microsoft.com/office/drawing/2014/main" val="3043905754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4209875336"/>
                    </a:ext>
                  </a:extLst>
                </a:gridCol>
                <a:gridCol w="455643">
                  <a:extLst>
                    <a:ext uri="{9D8B030D-6E8A-4147-A177-3AD203B41FA5}">
                      <a16:colId xmlns:a16="http://schemas.microsoft.com/office/drawing/2014/main" val="1230848205"/>
                    </a:ext>
                  </a:extLst>
                </a:gridCol>
                <a:gridCol w="817985">
                  <a:extLst>
                    <a:ext uri="{9D8B030D-6E8A-4147-A177-3AD203B41FA5}">
                      <a16:colId xmlns:a16="http://schemas.microsoft.com/office/drawing/2014/main" val="79024783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Sites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PFPeA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PFHxA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PFHpA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PFOA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PFDA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PFUnDA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PFDoDA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PFHxS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PFOS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∑PFAAs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69074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0894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1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6982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48599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2651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61832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88863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07830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C9(D)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6475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C10(D)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11.28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16.00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17665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813AF4B-0348-F0D8-8D81-1F217C95158F}"/>
              </a:ext>
            </a:extLst>
          </p:cNvPr>
          <p:cNvSpPr txBox="1"/>
          <p:nvPr/>
        </p:nvSpPr>
        <p:spPr>
          <a:xfrm>
            <a:off x="6195302" y="169107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Bioaccumulation Factors (BAF)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2E6D0-90F5-48FC-4EB8-FE3BD399E317}"/>
              </a:ext>
            </a:extLst>
          </p:cNvPr>
          <p:cNvSpPr txBox="1"/>
          <p:nvPr/>
        </p:nvSpPr>
        <p:spPr>
          <a:xfrm>
            <a:off x="2286000" y="3135086"/>
            <a:ext cx="59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BAF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29AEE-D748-A9D3-B7EA-917D7963FA54}"/>
              </a:ext>
            </a:extLst>
          </p:cNvPr>
          <p:cNvSpPr txBox="1"/>
          <p:nvPr/>
        </p:nvSpPr>
        <p:spPr>
          <a:xfrm>
            <a:off x="3906156" y="4785671"/>
            <a:ext cx="4675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 Using the BAF for PFAS, we can calculate the </a:t>
            </a:r>
            <a:r>
              <a:rPr lang="en-CN" b="1" dirty="0">
                <a:solidFill>
                  <a:srgbClr val="92D050"/>
                </a:solidFill>
              </a:rPr>
              <a:t>concentration of PFAS in corn</a:t>
            </a:r>
            <a:r>
              <a:rPr lang="en-CN" dirty="0"/>
              <a:t>, based on data of </a:t>
            </a:r>
            <a:r>
              <a:rPr lang="en-CN" b="1" dirty="0">
                <a:solidFill>
                  <a:schemeClr val="accent2">
                    <a:lumMod val="50000"/>
                  </a:schemeClr>
                </a:solidFill>
              </a:rPr>
              <a:t>PFAS concentration in soil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Parameter in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b="1" dirty="0"/>
              <a:t>BAF</a:t>
            </a:r>
            <a:r>
              <a:rPr lang="en-CN" dirty="0"/>
              <a:t> for different PFAS from soil to corn</a:t>
            </a:r>
          </a:p>
        </p:txBody>
      </p:sp>
      <p:pic>
        <p:nvPicPr>
          <p:cNvPr id="4098" name="Picture 2" descr="A graph with a green rectangle and a green rectangle&#10;&#10;Description automatically generated">
            <a:extLst>
              <a:ext uri="{FF2B5EF4-FFF2-40B4-BE49-F238E27FC236}">
                <a16:creationId xmlns:a16="http://schemas.microsoft.com/office/drawing/2014/main" id="{5C67190C-1A33-6E1B-97AF-0327BB07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618" y="4626102"/>
            <a:ext cx="3326553" cy="174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78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BDE1-9427-9744-FDE3-E7F42142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93B4-3355-FCD5-6BC9-1402E059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From Corn to Cattle Muscle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C97B7-73DB-9D27-A7A6-50AA88662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72330"/>
            <a:ext cx="2653418" cy="102054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6CB9E9-70A5-505D-5EF5-8C24D858BEFC}"/>
              </a:ext>
            </a:extLst>
          </p:cNvPr>
          <p:cNvSpPr/>
          <p:nvPr/>
        </p:nvSpPr>
        <p:spPr>
          <a:xfrm>
            <a:off x="1667211" y="5649686"/>
            <a:ext cx="1119532" cy="48985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087DA5-EB91-D643-A5BF-3E110655DE35}"/>
              </a:ext>
            </a:extLst>
          </p:cNvPr>
          <p:cNvSpPr txBox="1"/>
          <p:nvPr/>
        </p:nvSpPr>
        <p:spPr>
          <a:xfrm>
            <a:off x="4270829" y="4726356"/>
            <a:ext cx="73369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 Using two compartment toxicokinetic model, we can calculate the </a:t>
            </a:r>
            <a:r>
              <a:rPr lang="en-CN" b="1" dirty="0">
                <a:solidFill>
                  <a:srgbClr val="C00000"/>
                </a:solidFill>
              </a:rPr>
              <a:t>concentration of PFAS in cattle muscle</a:t>
            </a:r>
            <a:r>
              <a:rPr lang="en-CN" dirty="0"/>
              <a:t>, based on data of </a:t>
            </a:r>
            <a:r>
              <a:rPr lang="en-CN" b="1" dirty="0">
                <a:solidFill>
                  <a:schemeClr val="accent6"/>
                </a:solidFill>
              </a:rPr>
              <a:t>PFAS concentration in corn stover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Parameter in 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Elimination Rate Constant </a:t>
            </a:r>
            <a:r>
              <a:rPr lang="en-CN" b="1" dirty="0"/>
              <a:t>K</a:t>
            </a:r>
            <a:r>
              <a:rPr lang="en-CN" b="1" baseline="-25000" dirty="0"/>
              <a:t>e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Transfer factors between tissues </a:t>
            </a:r>
            <a:r>
              <a:rPr lang="en-CN" b="1" dirty="0"/>
              <a:t>K</a:t>
            </a:r>
            <a:r>
              <a:rPr lang="en-CN" b="1" baseline="-25000" dirty="0"/>
              <a:t>12</a:t>
            </a:r>
            <a:endParaRPr lang="en-CN" b="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4C6EC1-F7E9-C150-A2BD-4075B29867A0}"/>
              </a:ext>
            </a:extLst>
          </p:cNvPr>
          <p:cNvSpPr/>
          <p:nvPr/>
        </p:nvSpPr>
        <p:spPr>
          <a:xfrm>
            <a:off x="588301" y="1690688"/>
            <a:ext cx="1129915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Corn stover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93E6A8-4A47-1866-4219-4C25512C2A6F}"/>
              </a:ext>
            </a:extLst>
          </p:cNvPr>
          <p:cNvSpPr/>
          <p:nvPr/>
        </p:nvSpPr>
        <p:spPr>
          <a:xfrm>
            <a:off x="2823472" y="1690688"/>
            <a:ext cx="133629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Cattle Muscle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B3830FC-537B-0439-0662-F37C0308F405}"/>
              </a:ext>
            </a:extLst>
          </p:cNvPr>
          <p:cNvSpPr/>
          <p:nvPr/>
        </p:nvSpPr>
        <p:spPr>
          <a:xfrm>
            <a:off x="1782688" y="1879687"/>
            <a:ext cx="942852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BFB2C6-4AF5-312A-55D7-03C013B1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39" y="2592082"/>
            <a:ext cx="3411308" cy="1875250"/>
          </a:xfrm>
          <a:prstGeom prst="rect">
            <a:avLst/>
          </a:prstGeom>
        </p:spPr>
      </p:pic>
      <p:pic>
        <p:nvPicPr>
          <p:cNvPr id="18" name="Picture 1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B561DEA0-7D29-37A0-4B47-9E29A0985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087" y="1429432"/>
            <a:ext cx="5544456" cy="32280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AA1B966-A030-1723-0806-8347F42D8216}"/>
              </a:ext>
            </a:extLst>
          </p:cNvPr>
          <p:cNvSpPr txBox="1"/>
          <p:nvPr/>
        </p:nvSpPr>
        <p:spPr>
          <a:xfrm>
            <a:off x="1852591" y="1510355"/>
            <a:ext cx="79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K</a:t>
            </a:r>
            <a:r>
              <a:rPr lang="en-CN" baseline="-25000" dirty="0"/>
              <a:t>e</a:t>
            </a:r>
            <a:r>
              <a:rPr lang="en-CN" dirty="0"/>
              <a:t>, K</a:t>
            </a:r>
            <a:r>
              <a:rPr lang="en-CN" baseline="-250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5338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5391-5616-13D2-33C2-7A3F4ABC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B963-0C2F-BE84-105A-592A8331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From Food to Human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680A93-E373-AFDE-BC3E-75D1FB9FA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72330"/>
            <a:ext cx="2653418" cy="102054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209DEB-E65F-5C8C-93AA-3977504B2C1F}"/>
              </a:ext>
            </a:extLst>
          </p:cNvPr>
          <p:cNvSpPr/>
          <p:nvPr/>
        </p:nvSpPr>
        <p:spPr>
          <a:xfrm>
            <a:off x="2164908" y="5737673"/>
            <a:ext cx="1326709" cy="84818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4542-C061-80D1-8C17-193465628A21}"/>
              </a:ext>
            </a:extLst>
          </p:cNvPr>
          <p:cNvSpPr txBox="1"/>
          <p:nvPr/>
        </p:nvSpPr>
        <p:spPr>
          <a:xfrm>
            <a:off x="4966687" y="5420836"/>
            <a:ext cx="7336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can calculate the PFAS EDI, using </a:t>
            </a:r>
            <a:r>
              <a:rPr lang="en-CN" b="1" dirty="0">
                <a:solidFill>
                  <a:srgbClr val="C00000"/>
                </a:solidFill>
              </a:rPr>
              <a:t>concentration of PFAS in cattle muscle </a:t>
            </a:r>
            <a:r>
              <a:rPr lang="en-CN" dirty="0"/>
              <a:t>and</a:t>
            </a:r>
            <a:r>
              <a:rPr lang="en-CN" b="1" dirty="0">
                <a:solidFill>
                  <a:schemeClr val="accent6"/>
                </a:solidFill>
              </a:rPr>
              <a:t> </a:t>
            </a:r>
            <a:r>
              <a:rPr lang="en-CN" b="1" dirty="0">
                <a:solidFill>
                  <a:srgbClr val="FFC000"/>
                </a:solidFill>
              </a:rPr>
              <a:t>corn </a:t>
            </a:r>
            <a:r>
              <a:rPr lang="en-US" b="1" dirty="0">
                <a:solidFill>
                  <a:srgbClr val="FFC000"/>
                </a:solidFill>
              </a:rPr>
              <a:t>kernel</a:t>
            </a:r>
            <a:endParaRPr lang="en-CN" b="1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Parameter in 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Consumption Rate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E22EA4-1F82-ED05-3638-5870F39A7133}"/>
              </a:ext>
            </a:extLst>
          </p:cNvPr>
          <p:cNvSpPr/>
          <p:nvPr/>
        </p:nvSpPr>
        <p:spPr>
          <a:xfrm>
            <a:off x="838200" y="2995874"/>
            <a:ext cx="133629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Corn products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6211EF-0986-5FA8-3F43-92E4CE5C7360}"/>
              </a:ext>
            </a:extLst>
          </p:cNvPr>
          <p:cNvSpPr/>
          <p:nvPr/>
        </p:nvSpPr>
        <p:spPr>
          <a:xfrm>
            <a:off x="838201" y="1737135"/>
            <a:ext cx="133629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Cattle Muscle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60B3DE-62C3-F78C-FFAE-EC4DF5A9B13F}"/>
              </a:ext>
            </a:extLst>
          </p:cNvPr>
          <p:cNvSpPr/>
          <p:nvPr/>
        </p:nvSpPr>
        <p:spPr>
          <a:xfrm>
            <a:off x="3265477" y="2372415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Exposure to Humans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5D8836B-F646-CC88-B53F-4D79679EF30D}"/>
              </a:ext>
            </a:extLst>
          </p:cNvPr>
          <p:cNvSpPr/>
          <p:nvPr/>
        </p:nvSpPr>
        <p:spPr>
          <a:xfrm rot="1132529">
            <a:off x="2301160" y="2141143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C9B1C70-D792-17FF-61ED-449F2444FDF1}"/>
              </a:ext>
            </a:extLst>
          </p:cNvPr>
          <p:cNvSpPr/>
          <p:nvPr/>
        </p:nvSpPr>
        <p:spPr>
          <a:xfrm rot="20339699">
            <a:off x="2279801" y="3064244"/>
            <a:ext cx="942105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FAA284C-A79C-17C5-5706-1AFE70708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119873"/>
              </p:ext>
            </p:extLst>
          </p:nvPr>
        </p:nvGraphicFramePr>
        <p:xfrm>
          <a:off x="1394718" y="4263634"/>
          <a:ext cx="3975100" cy="762000"/>
        </p:xfrm>
        <a:graphic>
          <a:graphicData uri="http://schemas.openxmlformats.org/drawingml/2006/table">
            <a:tbl>
              <a:tblPr/>
              <a:tblGrid>
                <a:gridCol w="1280760">
                  <a:extLst>
                    <a:ext uri="{9D8B030D-6E8A-4147-A177-3AD203B41FA5}">
                      <a16:colId xmlns:a16="http://schemas.microsoft.com/office/drawing/2014/main" val="2594173025"/>
                    </a:ext>
                  </a:extLst>
                </a:gridCol>
                <a:gridCol w="673585">
                  <a:extLst>
                    <a:ext uri="{9D8B030D-6E8A-4147-A177-3AD203B41FA5}">
                      <a16:colId xmlns:a16="http://schemas.microsoft.com/office/drawing/2014/main" val="1731933677"/>
                    </a:ext>
                  </a:extLst>
                </a:gridCol>
                <a:gridCol w="673585">
                  <a:extLst>
                    <a:ext uri="{9D8B030D-6E8A-4147-A177-3AD203B41FA5}">
                      <a16:colId xmlns:a16="http://schemas.microsoft.com/office/drawing/2014/main" val="3490055024"/>
                    </a:ext>
                  </a:extLst>
                </a:gridCol>
                <a:gridCol w="673585">
                  <a:extLst>
                    <a:ext uri="{9D8B030D-6E8A-4147-A177-3AD203B41FA5}">
                      <a16:colId xmlns:a16="http://schemas.microsoft.com/office/drawing/2014/main" val="2211700250"/>
                    </a:ext>
                  </a:extLst>
                </a:gridCol>
                <a:gridCol w="673585">
                  <a:extLst>
                    <a:ext uri="{9D8B030D-6E8A-4147-A177-3AD203B41FA5}">
                      <a16:colId xmlns:a16="http://schemas.microsoft.com/office/drawing/2014/main" val="3986123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CN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All Field Corn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Beef Muscle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178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531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 to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947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 to 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8131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708DF85-D44C-4387-5DE8-D63EE3BD9D7F}"/>
              </a:ext>
            </a:extLst>
          </p:cNvPr>
          <p:cNvSpPr txBox="1"/>
          <p:nvPr/>
        </p:nvSpPr>
        <p:spPr>
          <a:xfrm>
            <a:off x="1980100" y="3905814"/>
            <a:ext cx="2986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Rate for different food</a:t>
            </a:r>
          </a:p>
        </p:txBody>
      </p:sp>
      <p:pic>
        <p:nvPicPr>
          <p:cNvPr id="24" name="Picture 23" descr="A screenshot of a graph&#10;&#10;Description automatically generated">
            <a:extLst>
              <a:ext uri="{FF2B5EF4-FFF2-40B4-BE49-F238E27FC236}">
                <a16:creationId xmlns:a16="http://schemas.microsoft.com/office/drawing/2014/main" id="{7AAE7BAD-8996-182F-7E88-1AF4EAA331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417"/>
          <a:stretch/>
        </p:blipFill>
        <p:spPr>
          <a:xfrm>
            <a:off x="5474274" y="1669076"/>
            <a:ext cx="3609606" cy="2892038"/>
          </a:xfrm>
          <a:prstGeom prst="rect">
            <a:avLst/>
          </a:prstGeom>
        </p:spPr>
      </p:pic>
      <p:pic>
        <p:nvPicPr>
          <p:cNvPr id="26" name="Picture 25" descr="A screenshot of a graph&#10;&#10;Description automatically generated">
            <a:extLst>
              <a:ext uri="{FF2B5EF4-FFF2-40B4-BE49-F238E27FC236}">
                <a16:creationId xmlns:a16="http://schemas.microsoft.com/office/drawing/2014/main" id="{356BC0D1-902D-5201-673D-B3BE730A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43" r="47238" b="34231"/>
          <a:stretch/>
        </p:blipFill>
        <p:spPr>
          <a:xfrm>
            <a:off x="9188336" y="1597397"/>
            <a:ext cx="2875267" cy="30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3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2F1416-674E-33E2-E8E4-67599E463A76}"/>
              </a:ext>
            </a:extLst>
          </p:cNvPr>
          <p:cNvSpPr txBox="1"/>
          <p:nvPr/>
        </p:nvSpPr>
        <p:spPr>
          <a:xfrm>
            <a:off x="1240971" y="566057"/>
            <a:ext cx="39292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Model extension</a:t>
            </a:r>
            <a:endParaRPr lang="en-CN" dirty="0"/>
          </a:p>
        </p:txBody>
      </p:sp>
      <p:sp>
        <p:nvSpPr>
          <p:cNvPr id="51" name="Rounded Rectangle 5">
            <a:extLst>
              <a:ext uri="{FF2B5EF4-FFF2-40B4-BE49-F238E27FC236}">
                <a16:creationId xmlns:a16="http://schemas.microsoft.com/office/drawing/2014/main" id="{8209A57D-8A49-7F84-A2D8-281FC9E2B5D6}"/>
              </a:ext>
            </a:extLst>
          </p:cNvPr>
          <p:cNvSpPr/>
          <p:nvPr/>
        </p:nvSpPr>
        <p:spPr>
          <a:xfrm>
            <a:off x="1264822" y="3030560"/>
            <a:ext cx="2104341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Concentration in Soil</a:t>
            </a: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2A776A1C-D164-D43E-0277-5529F1871FBC}"/>
              </a:ext>
            </a:extLst>
          </p:cNvPr>
          <p:cNvSpPr/>
          <p:nvPr/>
        </p:nvSpPr>
        <p:spPr>
          <a:xfrm>
            <a:off x="981180" y="1596115"/>
            <a:ext cx="2671620" cy="712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PFAS Concentration in Biosolids</a:t>
            </a:r>
          </a:p>
        </p:txBody>
      </p:sp>
      <p:sp>
        <p:nvSpPr>
          <p:cNvPr id="77" name="Right Arrow 18">
            <a:extLst>
              <a:ext uri="{FF2B5EF4-FFF2-40B4-BE49-F238E27FC236}">
                <a16:creationId xmlns:a16="http://schemas.microsoft.com/office/drawing/2014/main" id="{0E1B88F8-5964-785B-DBC5-6300D1D14BA9}"/>
              </a:ext>
            </a:extLst>
          </p:cNvPr>
          <p:cNvSpPr/>
          <p:nvPr/>
        </p:nvSpPr>
        <p:spPr>
          <a:xfrm rot="5400000">
            <a:off x="2032346" y="2518007"/>
            <a:ext cx="569287" cy="29391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9" name="Rounded Rectangle 19">
            <a:extLst>
              <a:ext uri="{FF2B5EF4-FFF2-40B4-BE49-F238E27FC236}">
                <a16:creationId xmlns:a16="http://schemas.microsoft.com/office/drawing/2014/main" id="{0C27C5BC-E22D-C8BA-7A94-8CD54F671429}"/>
              </a:ext>
            </a:extLst>
          </p:cNvPr>
          <p:cNvSpPr/>
          <p:nvPr/>
        </p:nvSpPr>
        <p:spPr>
          <a:xfrm>
            <a:off x="729438" y="1360353"/>
            <a:ext cx="3342513" cy="25036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0" name="Picture 79" descr="A diagram of a plant&#10;&#10;Description automatically generated">
            <a:extLst>
              <a:ext uri="{FF2B5EF4-FFF2-40B4-BE49-F238E27FC236}">
                <a16:creationId xmlns:a16="http://schemas.microsoft.com/office/drawing/2014/main" id="{313EDE23-E509-127F-F008-E74A5A69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54" t="-283" r="-953" b="619"/>
          <a:stretch/>
        </p:blipFill>
        <p:spPr>
          <a:xfrm>
            <a:off x="827780" y="4629576"/>
            <a:ext cx="3270623" cy="17389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2E890CC-D373-FB17-CB20-318FDF4D8B1E}"/>
              </a:ext>
            </a:extLst>
          </p:cNvPr>
          <p:cNvSpPr txBox="1"/>
          <p:nvPr/>
        </p:nvSpPr>
        <p:spPr>
          <a:xfrm>
            <a:off x="5640806" y="1732999"/>
            <a:ext cx="5398016" cy="17543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N" b="1" dirty="0"/>
              <a:t>Parameters needed for different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BAF for different PFAS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Toxicokinetic</a:t>
            </a:r>
            <a:r>
              <a:rPr lang="en-CN"/>
              <a:t> model parameters for different PFAS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Consumption Rate for different Food products</a:t>
            </a:r>
          </a:p>
          <a:p>
            <a:r>
              <a:rPr lang="en-CN" b="1" dirty="0"/>
              <a:t>What data we have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PFAS concentration in Soil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A85DE71-831F-4346-F51A-F002E88D0349}"/>
              </a:ext>
            </a:extLst>
          </p:cNvPr>
          <p:cNvSpPr txBox="1"/>
          <p:nvPr/>
        </p:nvSpPr>
        <p:spPr>
          <a:xfrm>
            <a:off x="5638195" y="4466370"/>
            <a:ext cx="45316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What we need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Transfer factor from biosolids to soil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suitable model from biosolids to soil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Assumption we need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Setting for the model above</a:t>
            </a:r>
          </a:p>
        </p:txBody>
      </p:sp>
    </p:spTree>
    <p:extLst>
      <p:ext uri="{BB962C8B-B14F-4D97-AF65-F5344CB8AC3E}">
        <p14:creationId xmlns:p14="http://schemas.microsoft.com/office/powerpoint/2010/main" val="348148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435</Words>
  <Application>Microsoft Office PowerPoint</Application>
  <PresentationFormat>Widescreen</PresentationFormat>
  <Paragraphs>222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From Soil to Corn Plant</vt:lpstr>
      <vt:lpstr>From Corn to Cattle Muscle</vt:lpstr>
      <vt:lpstr>From Food to Human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34</cp:revision>
  <dcterms:created xsi:type="dcterms:W3CDTF">2024-11-15T16:24:24Z</dcterms:created>
  <dcterms:modified xsi:type="dcterms:W3CDTF">2024-11-15T18:00:41Z</dcterms:modified>
</cp:coreProperties>
</file>