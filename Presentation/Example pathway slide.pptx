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35C"/>
    <a:srgbClr val="EC816E"/>
    <a:srgbClr val="FABD90"/>
    <a:srgbClr val="F9BB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 autoAdjust="0"/>
    <p:restoredTop sz="94718"/>
  </p:normalViewPr>
  <p:slideViewPr>
    <p:cSldViewPr snapToGrid="0">
      <p:cViewPr>
        <p:scale>
          <a:sx n="150" d="100"/>
          <a:sy n="150" d="100"/>
        </p:scale>
        <p:origin x="-360" y="-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2225A-FC3B-7548-8C08-28066CD0736A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6A920-BF7D-084D-ADD7-8B6C8AD8E44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751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6A920-BF7D-084D-ADD7-8B6C8AD8E445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932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D1AB-792A-F758-FBD7-72DFC53DC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F5007-16B3-68CF-16C5-8D00E7EF8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9C5AA-C423-F21E-5E11-DC546461C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CCF13-6976-8536-169F-744BFAE9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238BF-1F71-16E5-392D-5BD7FA48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2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6E82-2FF4-0857-DF80-858FF45F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1066-0754-808A-9BE9-A40D42216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DCE8-CACC-4D9D-2ECC-9C944CC8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9DD74-06D0-E516-E81E-FE034362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05DC-0356-4FA4-1C2E-9D38EE40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8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E156-A245-EA5F-89AA-6DB83D94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CB41B-A3AD-86E2-1F9D-7BA59BEC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A7B5-85B8-E007-378D-974BCEFC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02058-9CBB-9E13-57AE-0046F83C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539E8-DB23-E329-0963-FE5F36A7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9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3B5E-1CF4-7944-BE79-56259833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A1E9-F441-B7A2-CFE6-F89B8A0F2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44818-E787-1F8B-1F02-40B7D0A8E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F8D83-8543-9B4D-3888-6D8F6F36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5A92D-7A8F-7886-9500-0EFB1F764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91BC6-0E24-361A-DE9C-2C173B3B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0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B798-CB4B-2F18-C16C-C56DD374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EF548-4578-2AFF-EAEA-285A7A5C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EF45C-9B06-2C59-66F4-E49D81366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C4CF0-07B7-6827-FAEE-928B8FE89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3B517-5092-5421-3E74-AB5F02CF5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49BC7-62A7-DFDB-B3A1-206787E4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F9D0A-F30B-ADC8-89BB-3B04E33F2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F7105-12E0-45A3-0C8C-79BBF0FA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2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09E4-D0D9-0DAC-6ECE-3E07D0E4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3CF18-66C3-F490-4746-3CA38E14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B8227-5F6D-9CD5-25D5-48B7442C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93B22-2D64-D60D-6A01-40C60DA2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4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87FF3-E6A1-A89E-B702-7BD0427E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37F88-4F10-F5DE-4185-E5A6FF09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4D4BE-872C-CB3D-E977-63D40F40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9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5AA2-9CE2-204B-9DF6-3FFB8E84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6499-6C01-2F73-5060-B0D74253D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96440-FC64-918D-7154-BE44F63C2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6724C-3E32-10B1-1AA3-25F02C5F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B6ABF-C001-99F4-7C09-88345523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DAC5B-470A-C625-D8DA-8F8DAB5A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5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198F-D3C2-C6E3-E53E-6770FC6C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C84FF-61E5-D6B8-8704-E862A460A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9CBE6-E56F-1F80-AD78-C9A131EE9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7918-AEB6-0D86-A65A-E00CF280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F7BDE-70B2-C0CF-0E8C-249288CE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BDCC0-02D8-CEF9-F76B-AD0E2244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6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ACED-6C94-466B-371C-4AF06EE9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8D652-6ABE-A23D-46D4-38FF67B48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7615-751F-8888-F4BA-D7261F24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6E135-DC32-A1B4-4079-B06A221A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FD98-5948-DDFA-72FF-CCCCBE4B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A980D-B056-3F04-2FCE-04F274F17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7FCF7-C996-4A81-4584-63A9F8526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413E-AE34-542D-8B3F-556CE43B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BE5BC-00D3-48EA-C2B6-638465A3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FAEF-5DEF-3875-8413-0313D253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1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D4930-1CE3-7E05-8046-87788D4AC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28C85-36DA-6E94-DC37-9D1D718FC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81894-B7EC-E02F-2887-89EC613B7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8D2DF-8448-4B34-A49D-92F56C1AFCDB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026E-F2E4-866A-269F-4C0900944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7E0B0-0D61-8E5A-21D4-4F3B106FF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21966-7C02-4575-9DE3-FBEB8A448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7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0.svg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8.svg"/><Relationship Id="rId5" Type="http://schemas.openxmlformats.org/officeDocument/2006/relationships/image" Target="../media/image1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4AD512-766B-109E-6DE6-908BD4780F45}"/>
              </a:ext>
            </a:extLst>
          </p:cNvPr>
          <p:cNvSpPr txBox="1"/>
          <p:nvPr/>
        </p:nvSpPr>
        <p:spPr>
          <a:xfrm>
            <a:off x="2839632" y="5696563"/>
            <a:ext cx="261449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Biosolids applied to agricultural fields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26FB9A-8894-E432-D4CD-76D1936426EA}"/>
              </a:ext>
            </a:extLst>
          </p:cNvPr>
          <p:cNvCxnSpPr>
            <a:cxnSpLocks/>
          </p:cNvCxnSpPr>
          <p:nvPr/>
        </p:nvCxnSpPr>
        <p:spPr>
          <a:xfrm>
            <a:off x="1250100" y="4036886"/>
            <a:ext cx="0" cy="584216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EB1D186-6A43-C5DE-F2B9-58693DED32DF}"/>
              </a:ext>
            </a:extLst>
          </p:cNvPr>
          <p:cNvSpPr txBox="1"/>
          <p:nvPr/>
        </p:nvSpPr>
        <p:spPr>
          <a:xfrm>
            <a:off x="181280" y="3363388"/>
            <a:ext cx="213670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Industry generates</a:t>
            </a:r>
          </a:p>
          <a:p>
            <a:pPr algn="ctr"/>
            <a:r>
              <a:rPr lang="en-US" dirty="0"/>
              <a:t> PFASs waste</a:t>
            </a:r>
          </a:p>
        </p:txBody>
      </p:sp>
      <p:pic>
        <p:nvPicPr>
          <p:cNvPr id="32" name="Picture 6" descr="manufacturing Icon 1534390">
            <a:extLst>
              <a:ext uri="{FF2B5EF4-FFF2-40B4-BE49-F238E27FC236}">
                <a16:creationId xmlns:a16="http://schemas.microsoft.com/office/drawing/2014/main" id="{01780589-E31E-46FD-EC0E-E6E297CA8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50" y="33576"/>
            <a:ext cx="929514" cy="94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water Icon 3580337">
            <a:extLst>
              <a:ext uri="{FF2B5EF4-FFF2-40B4-BE49-F238E27FC236}">
                <a16:creationId xmlns:a16="http://schemas.microsoft.com/office/drawing/2014/main" id="{FD211D5E-6867-7F61-2926-409C0381D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104" y="466802"/>
            <a:ext cx="941832" cy="9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BE7B02-7E32-59CE-5E05-884D50B1C9CD}"/>
              </a:ext>
            </a:extLst>
          </p:cNvPr>
          <p:cNvSpPr txBox="1"/>
          <p:nvPr/>
        </p:nvSpPr>
        <p:spPr>
          <a:xfrm>
            <a:off x="-96373" y="5725214"/>
            <a:ext cx="300446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WWTP does not remove PFASs from water/biosolids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2F006B-12E5-C4A2-8E6E-6ACCC467B0DE}"/>
              </a:ext>
            </a:extLst>
          </p:cNvPr>
          <p:cNvCxnSpPr>
            <a:cxnSpLocks/>
          </p:cNvCxnSpPr>
          <p:nvPr/>
        </p:nvCxnSpPr>
        <p:spPr>
          <a:xfrm>
            <a:off x="2076829" y="5314414"/>
            <a:ext cx="1148173" cy="0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99F9487-CAED-378E-26D3-CDFAF51E42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</a:blip>
          <a:srcRect t="1002"/>
          <a:stretch/>
        </p:blipFill>
        <p:spPr>
          <a:xfrm>
            <a:off x="3367631" y="4756630"/>
            <a:ext cx="1390536" cy="96751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1904B3-FCD6-D65C-3D7D-32ACEA97213B}"/>
              </a:ext>
            </a:extLst>
          </p:cNvPr>
          <p:cNvCxnSpPr>
            <a:cxnSpLocks/>
          </p:cNvCxnSpPr>
          <p:nvPr/>
        </p:nvCxnSpPr>
        <p:spPr>
          <a:xfrm flipV="1">
            <a:off x="4033401" y="3899941"/>
            <a:ext cx="0" cy="835172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6A2174-4F66-DBC9-B7A0-A140248D473E}"/>
              </a:ext>
            </a:extLst>
          </p:cNvPr>
          <p:cNvCxnSpPr>
            <a:cxnSpLocks/>
          </p:cNvCxnSpPr>
          <p:nvPr/>
        </p:nvCxnSpPr>
        <p:spPr>
          <a:xfrm>
            <a:off x="11724023" y="1612965"/>
            <a:ext cx="0" cy="594652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6FF17FAE-FF3C-05E8-8C62-5DF135A12E5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r="7337" b="8361"/>
          <a:stretch/>
        </p:blipFill>
        <p:spPr>
          <a:xfrm>
            <a:off x="6480183" y="809062"/>
            <a:ext cx="4253872" cy="1452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15C5887-7173-BD86-D579-E9654CBBB8FC}"/>
              </a:ext>
            </a:extLst>
          </p:cNvPr>
          <p:cNvSpPr txBox="1"/>
          <p:nvPr/>
        </p:nvSpPr>
        <p:spPr>
          <a:xfrm>
            <a:off x="2948142" y="3489482"/>
            <a:ext cx="200714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Agricultural Soil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E2C030-A8FF-F2BA-68BC-38BBF34DDA94}"/>
              </a:ext>
            </a:extLst>
          </p:cNvPr>
          <p:cNvCxnSpPr>
            <a:cxnSpLocks/>
          </p:cNvCxnSpPr>
          <p:nvPr/>
        </p:nvCxnSpPr>
        <p:spPr>
          <a:xfrm>
            <a:off x="6522460" y="1315006"/>
            <a:ext cx="3520023" cy="20129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C9BB85B-0B4D-6AE5-5C43-CA86AC1D10B9}"/>
              </a:ext>
            </a:extLst>
          </p:cNvPr>
          <p:cNvSpPr txBox="1"/>
          <p:nvPr/>
        </p:nvSpPr>
        <p:spPr>
          <a:xfrm>
            <a:off x="7106589" y="5302007"/>
            <a:ext cx="16217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Cattle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ECF6A8-6998-F850-439D-05F9D5E6DD21}"/>
              </a:ext>
            </a:extLst>
          </p:cNvPr>
          <p:cNvSpPr txBox="1"/>
          <p:nvPr/>
        </p:nvSpPr>
        <p:spPr>
          <a:xfrm>
            <a:off x="8838354" y="4380347"/>
            <a:ext cx="16217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Farm Family</a:t>
            </a:r>
          </a:p>
        </p:txBody>
      </p:sp>
      <p:pic>
        <p:nvPicPr>
          <p:cNvPr id="3" name="Picture 2" descr="A grey factory with smoke coming out of it&#10;&#10;AI-generated content may be incorrect.">
            <a:extLst>
              <a:ext uri="{FF2B5EF4-FFF2-40B4-BE49-F238E27FC236}">
                <a16:creationId xmlns:a16="http://schemas.microsoft.com/office/drawing/2014/main" id="{E64F298A-90E5-A0E5-078F-EDC9524153C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3" t="11942" r="11364" b="16070"/>
          <a:stretch>
            <a:fillRect/>
          </a:stretch>
        </p:blipFill>
        <p:spPr>
          <a:xfrm>
            <a:off x="118783" y="451864"/>
            <a:ext cx="1030201" cy="956770"/>
          </a:xfrm>
          <a:prstGeom prst="rect">
            <a:avLst/>
          </a:prstGeom>
        </p:spPr>
      </p:pic>
      <p:pic>
        <p:nvPicPr>
          <p:cNvPr id="5" name="Picture 4" descr="A greyscale shot of a water filter&#10;&#10;AI-generated content may be incorrect.">
            <a:extLst>
              <a:ext uri="{FF2B5EF4-FFF2-40B4-BE49-F238E27FC236}">
                <a16:creationId xmlns:a16="http://schemas.microsoft.com/office/drawing/2014/main" id="{948C10A4-70B7-D695-5631-7C580FCFA6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8" t="17489" r="13672" b="15761"/>
          <a:stretch>
            <a:fillRect/>
          </a:stretch>
        </p:blipFill>
        <p:spPr>
          <a:xfrm>
            <a:off x="2377072" y="387332"/>
            <a:ext cx="1062039" cy="95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BDD86-ED7A-315E-466C-89C035D2FF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267" y="2565400"/>
            <a:ext cx="1612900" cy="863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AE8683-AE16-4ED6-0419-A6AEEE67EFA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6290"/>
          <a:stretch>
            <a:fillRect/>
          </a:stretch>
        </p:blipFill>
        <p:spPr>
          <a:xfrm>
            <a:off x="700930" y="4735113"/>
            <a:ext cx="1097407" cy="9675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B3C3DD-DADC-8B0B-F108-718FDA1B09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310" y="2207617"/>
            <a:ext cx="989540" cy="12819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43588F-113C-4A4A-DA2B-564B372895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9914" y="4040298"/>
            <a:ext cx="1511491" cy="11616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F5C4DEB-1F66-E3D5-F6E4-05CD1A2044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7193" y="2525475"/>
            <a:ext cx="1284102" cy="18373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66F3BA-4C79-C3E2-6419-B59533957C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1852" y="2412169"/>
            <a:ext cx="1544863" cy="310377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870E56-CD86-AE19-F59D-E7BF93E01A8D}"/>
              </a:ext>
            </a:extLst>
          </p:cNvPr>
          <p:cNvSpPr txBox="1"/>
          <p:nvPr/>
        </p:nvSpPr>
        <p:spPr>
          <a:xfrm>
            <a:off x="5670219" y="548667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Corn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2261999-FB80-0F01-890A-8797EA1CC787}"/>
              </a:ext>
            </a:extLst>
          </p:cNvPr>
          <p:cNvCxnSpPr>
            <a:cxnSpLocks/>
          </p:cNvCxnSpPr>
          <p:nvPr/>
        </p:nvCxnSpPr>
        <p:spPr>
          <a:xfrm>
            <a:off x="4758167" y="3234870"/>
            <a:ext cx="553686" cy="1330143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FC36092-BF09-4D02-A764-1DCE42E78E4B}"/>
              </a:ext>
            </a:extLst>
          </p:cNvPr>
          <p:cNvCxnSpPr>
            <a:cxnSpLocks/>
          </p:cNvCxnSpPr>
          <p:nvPr/>
        </p:nvCxnSpPr>
        <p:spPr>
          <a:xfrm>
            <a:off x="6799403" y="3234870"/>
            <a:ext cx="2207790" cy="0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041A3B1-7E4A-F506-BE4C-54907E8782EF}"/>
              </a:ext>
            </a:extLst>
          </p:cNvPr>
          <p:cNvSpPr txBox="1"/>
          <p:nvPr/>
        </p:nvSpPr>
        <p:spPr>
          <a:xfrm>
            <a:off x="6799403" y="2854055"/>
            <a:ext cx="93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Kernels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1B3A06-03F1-3452-9390-EC27980075E4}"/>
              </a:ext>
            </a:extLst>
          </p:cNvPr>
          <p:cNvCxnSpPr>
            <a:cxnSpLocks/>
          </p:cNvCxnSpPr>
          <p:nvPr/>
        </p:nvCxnSpPr>
        <p:spPr>
          <a:xfrm flipV="1">
            <a:off x="6431676" y="4510311"/>
            <a:ext cx="896946" cy="9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5F67A28-D886-A8C8-42EC-7864418DC593}"/>
              </a:ext>
            </a:extLst>
          </p:cNvPr>
          <p:cNvSpPr txBox="1"/>
          <p:nvPr/>
        </p:nvSpPr>
        <p:spPr>
          <a:xfrm>
            <a:off x="6449808" y="4522515"/>
            <a:ext cx="81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Stover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AAE1868-DE79-963E-DE08-3A67C2E31E63}"/>
              </a:ext>
            </a:extLst>
          </p:cNvPr>
          <p:cNvCxnSpPr>
            <a:cxnSpLocks/>
          </p:cNvCxnSpPr>
          <p:nvPr/>
        </p:nvCxnSpPr>
        <p:spPr>
          <a:xfrm flipV="1">
            <a:off x="8389881" y="4767192"/>
            <a:ext cx="1131959" cy="696625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54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9C019B8-1865-8BC3-5605-FD25F5425C70}"/>
              </a:ext>
            </a:extLst>
          </p:cNvPr>
          <p:cNvSpPr/>
          <p:nvPr/>
        </p:nvSpPr>
        <p:spPr>
          <a:xfrm>
            <a:off x="4386943" y="2090057"/>
            <a:ext cx="2601686" cy="1545772"/>
          </a:xfrm>
          <a:prstGeom prst="ellipse">
            <a:avLst/>
          </a:prstGeom>
          <a:solidFill>
            <a:srgbClr val="F9BB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BLOOD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D78E21-5658-5027-6A84-B2A2E37DD8F0}"/>
              </a:ext>
            </a:extLst>
          </p:cNvPr>
          <p:cNvSpPr/>
          <p:nvPr/>
        </p:nvSpPr>
        <p:spPr>
          <a:xfrm>
            <a:off x="1197428" y="2090057"/>
            <a:ext cx="2601686" cy="1545772"/>
          </a:xfrm>
          <a:prstGeom prst="ellipse">
            <a:avLst/>
          </a:prstGeom>
          <a:solidFill>
            <a:srgbClr val="FAB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MUSCLE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A22A0E-294B-E4B0-3233-8659C23FE935}"/>
              </a:ext>
            </a:extLst>
          </p:cNvPr>
          <p:cNvSpPr/>
          <p:nvPr/>
        </p:nvSpPr>
        <p:spPr>
          <a:xfrm>
            <a:off x="7576458" y="2090057"/>
            <a:ext cx="2601686" cy="1545772"/>
          </a:xfrm>
          <a:prstGeom prst="ellipse">
            <a:avLst/>
          </a:prstGeom>
          <a:solidFill>
            <a:srgbClr val="EC81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LIVER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62F89D-D8D3-D4D0-90FA-4859FA3DA881}"/>
              </a:ext>
            </a:extLst>
          </p:cNvPr>
          <p:cNvSpPr/>
          <p:nvPr/>
        </p:nvSpPr>
        <p:spPr>
          <a:xfrm>
            <a:off x="4386943" y="4093029"/>
            <a:ext cx="2601686" cy="1545772"/>
          </a:xfrm>
          <a:prstGeom prst="ellipse">
            <a:avLst/>
          </a:prstGeom>
          <a:solidFill>
            <a:srgbClr val="D263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KIDNEY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347A7179-AD41-8C58-2BCE-79F1610A664E}"/>
              </a:ext>
            </a:extLst>
          </p:cNvPr>
          <p:cNvSpPr/>
          <p:nvPr/>
        </p:nvSpPr>
        <p:spPr>
          <a:xfrm>
            <a:off x="6770915" y="2862943"/>
            <a:ext cx="1099457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42699BD-21A1-A304-6C77-422EF5B1500C}"/>
              </a:ext>
            </a:extLst>
          </p:cNvPr>
          <p:cNvSpPr/>
          <p:nvPr/>
        </p:nvSpPr>
        <p:spPr>
          <a:xfrm flipH="1">
            <a:off x="3505199" y="2862943"/>
            <a:ext cx="1099457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47A7179-AD41-8C58-2BCE-79F1610A664E}"/>
              </a:ext>
            </a:extLst>
          </p:cNvPr>
          <p:cNvSpPr/>
          <p:nvPr/>
        </p:nvSpPr>
        <p:spPr>
          <a:xfrm rot="5400000">
            <a:off x="5132614" y="3679371"/>
            <a:ext cx="805543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FA3B3FB-C1B5-D98B-283F-8FC4C0E365AA}"/>
              </a:ext>
            </a:extLst>
          </p:cNvPr>
          <p:cNvSpPr/>
          <p:nvPr/>
        </p:nvSpPr>
        <p:spPr>
          <a:xfrm>
            <a:off x="3690258" y="2633472"/>
            <a:ext cx="794657" cy="22947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60CA99C7-01C4-B56F-4250-2B152CCDF41D}"/>
              </a:ext>
            </a:extLst>
          </p:cNvPr>
          <p:cNvSpPr/>
          <p:nvPr/>
        </p:nvSpPr>
        <p:spPr>
          <a:xfrm flipH="1">
            <a:off x="6885215" y="2633472"/>
            <a:ext cx="794657" cy="22947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FA3B3FB-C1B5-D98B-283F-8FC4C0E365AA}"/>
              </a:ext>
            </a:extLst>
          </p:cNvPr>
          <p:cNvSpPr/>
          <p:nvPr/>
        </p:nvSpPr>
        <p:spPr>
          <a:xfrm rot="16200000">
            <a:off x="5481393" y="3749694"/>
            <a:ext cx="794657" cy="22947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68A828D-8C89-C0D5-0103-C4FD8C41BBE8}"/>
              </a:ext>
            </a:extLst>
          </p:cNvPr>
          <p:cNvSpPr/>
          <p:nvPr/>
        </p:nvSpPr>
        <p:spPr>
          <a:xfrm rot="5400000">
            <a:off x="5285014" y="1744436"/>
            <a:ext cx="805543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2280D7-91A0-7F29-DE9C-4E5262CF062F}"/>
              </a:ext>
            </a:extLst>
          </p:cNvPr>
          <p:cNvSpPr txBox="1"/>
          <p:nvPr/>
        </p:nvSpPr>
        <p:spPr>
          <a:xfrm>
            <a:off x="5319511" y="1156998"/>
            <a:ext cx="754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PFOS</a:t>
            </a:r>
          </a:p>
        </p:txBody>
      </p:sp>
    </p:spTree>
    <p:extLst>
      <p:ext uri="{BB962C8B-B14F-4D97-AF65-F5344CB8AC3E}">
        <p14:creationId xmlns:p14="http://schemas.microsoft.com/office/powerpoint/2010/main" val="387254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754F-6DC7-5C19-6454-7F2B1694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16F2C2-9270-05F6-D4E5-859C49C2D629}"/>
              </a:ext>
            </a:extLst>
          </p:cNvPr>
          <p:cNvSpPr txBox="1"/>
          <p:nvPr/>
        </p:nvSpPr>
        <p:spPr>
          <a:xfrm>
            <a:off x="3232744" y="5071754"/>
            <a:ext cx="25101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Direct Land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A1B50-0F9E-4D83-4A76-599228067F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9878" t="21032" r="8056" b="21032"/>
          <a:stretch/>
        </p:blipFill>
        <p:spPr>
          <a:xfrm rot="21159347">
            <a:off x="5674291" y="4933908"/>
            <a:ext cx="674231" cy="475982"/>
          </a:xfrm>
          <a:prstGeom prst="rect">
            <a:avLst/>
          </a:prstGeom>
        </p:spPr>
      </p:pic>
      <p:pic>
        <p:nvPicPr>
          <p:cNvPr id="7" name="Picture 2" descr="77+ Thousand Cattle Icon Royalty-Free Images, Stock Photos &amp; Pictures |  Shutterstock">
            <a:extLst>
              <a:ext uri="{FF2B5EF4-FFF2-40B4-BE49-F238E27FC236}">
                <a16:creationId xmlns:a16="http://schemas.microsoft.com/office/drawing/2014/main" id="{C4C9524D-60BD-663A-C06B-61F33291C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6" t="26058" r="15119" b="29474"/>
          <a:stretch/>
        </p:blipFill>
        <p:spPr bwMode="auto">
          <a:xfrm>
            <a:off x="9751120" y="4858356"/>
            <a:ext cx="1512084" cy="92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155E06-E068-444F-2528-6D366B0AB64C}"/>
              </a:ext>
            </a:extLst>
          </p:cNvPr>
          <p:cNvSpPr txBox="1"/>
          <p:nvPr/>
        </p:nvSpPr>
        <p:spPr>
          <a:xfrm>
            <a:off x="9751120" y="3361066"/>
            <a:ext cx="214291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Impacted biosolids are land applied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CDCBB0-1901-BF99-946F-04BBEC5F0024}"/>
              </a:ext>
            </a:extLst>
          </p:cNvPr>
          <p:cNvCxnSpPr>
            <a:cxnSpLocks/>
          </p:cNvCxnSpPr>
          <p:nvPr/>
        </p:nvCxnSpPr>
        <p:spPr>
          <a:xfrm>
            <a:off x="2166811" y="1841478"/>
            <a:ext cx="1152777" cy="0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A785C-8B9B-2A81-52F5-C9E8C5DEE6E2}"/>
              </a:ext>
            </a:extLst>
          </p:cNvPr>
          <p:cNvGrpSpPr/>
          <p:nvPr/>
        </p:nvGrpSpPr>
        <p:grpSpPr>
          <a:xfrm>
            <a:off x="3360566" y="1347478"/>
            <a:ext cx="1275632" cy="1311164"/>
            <a:chOff x="9590649" y="1088510"/>
            <a:chExt cx="1275632" cy="131116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42EC53-D3A0-4F84-BE88-380A310D17BF}"/>
                </a:ext>
              </a:extLst>
            </p:cNvPr>
            <p:cNvSpPr txBox="1"/>
            <p:nvPr/>
          </p:nvSpPr>
          <p:spPr>
            <a:xfrm>
              <a:off x="9590649" y="2030342"/>
              <a:ext cx="127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Landfill</a:t>
              </a:r>
            </a:p>
          </p:txBody>
        </p:sp>
        <p:pic>
          <p:nvPicPr>
            <p:cNvPr id="34" name="Picture 2" descr="landfill Icon 383781">
              <a:extLst>
                <a:ext uri="{FF2B5EF4-FFF2-40B4-BE49-F238E27FC236}">
                  <a16:creationId xmlns:a16="http://schemas.microsoft.com/office/drawing/2014/main" id="{E1ADD53C-9BD4-263E-FF73-7EF155A10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7549" y="1088510"/>
              <a:ext cx="941832" cy="941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6C586B-7BBF-AA3A-0435-B175B73CFD34}"/>
              </a:ext>
            </a:extLst>
          </p:cNvPr>
          <p:cNvGrpSpPr/>
          <p:nvPr/>
        </p:nvGrpSpPr>
        <p:grpSpPr>
          <a:xfrm>
            <a:off x="96767" y="1159074"/>
            <a:ext cx="2544302" cy="1665862"/>
            <a:chOff x="4219874" y="1362144"/>
            <a:chExt cx="2544302" cy="166586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519A63-4D1E-7086-D814-422324C579D7}"/>
                </a:ext>
              </a:extLst>
            </p:cNvPr>
            <p:cNvSpPr txBox="1"/>
            <p:nvPr/>
          </p:nvSpPr>
          <p:spPr>
            <a:xfrm>
              <a:off x="4219874" y="2381675"/>
              <a:ext cx="254430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Industry generates</a:t>
              </a:r>
            </a:p>
            <a:p>
              <a:pPr algn="ctr"/>
              <a:r>
                <a:rPr lang="en-US"/>
                <a:t> PFASs waste</a:t>
              </a:r>
            </a:p>
          </p:txBody>
        </p:sp>
        <p:pic>
          <p:nvPicPr>
            <p:cNvPr id="32" name="Picture 6" descr="manufacturing Icon 1534390">
              <a:extLst>
                <a:ext uri="{FF2B5EF4-FFF2-40B4-BE49-F238E27FC236}">
                  <a16:creationId xmlns:a16="http://schemas.microsoft.com/office/drawing/2014/main" id="{0FDBF74A-6C12-0161-5C76-BE03547A88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268" y="1362144"/>
              <a:ext cx="929514" cy="944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8" descr="water Icon 3580337">
            <a:extLst>
              <a:ext uri="{FF2B5EF4-FFF2-40B4-BE49-F238E27FC236}">
                <a16:creationId xmlns:a16="http://schemas.microsoft.com/office/drawing/2014/main" id="{0CE16614-CE67-8877-BCC8-BF7F862CE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084" y="1347478"/>
            <a:ext cx="941832" cy="9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water Icon 5056943">
            <a:extLst>
              <a:ext uri="{FF2B5EF4-FFF2-40B4-BE49-F238E27FC236}">
                <a16:creationId xmlns:a16="http://schemas.microsoft.com/office/drawing/2014/main" id="{6789C2CB-1DBA-432B-1217-DD4BCEF73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148" y="2419234"/>
            <a:ext cx="941832" cy="9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61364B-D870-9062-B913-36AE8F6433F7}"/>
              </a:ext>
            </a:extLst>
          </p:cNvPr>
          <p:cNvSpPr txBox="1"/>
          <p:nvPr/>
        </p:nvSpPr>
        <p:spPr>
          <a:xfrm>
            <a:off x="7520519" y="3361066"/>
            <a:ext cx="214291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/>
              <a:t>Ground, surface for irrigation water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F22529-B6D0-7ABC-6008-BEBD67BC00EE}"/>
              </a:ext>
            </a:extLst>
          </p:cNvPr>
          <p:cNvSpPr txBox="1"/>
          <p:nvPr/>
        </p:nvSpPr>
        <p:spPr>
          <a:xfrm>
            <a:off x="5174767" y="2259851"/>
            <a:ext cx="213670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WWTP does not remove PFASs from water/biosolids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CA6C27-0AEF-3AF2-462F-43FFF8CBA398}"/>
              </a:ext>
            </a:extLst>
          </p:cNvPr>
          <p:cNvCxnSpPr>
            <a:cxnSpLocks/>
          </p:cNvCxnSpPr>
          <p:nvPr/>
        </p:nvCxnSpPr>
        <p:spPr>
          <a:xfrm>
            <a:off x="4469298" y="1841478"/>
            <a:ext cx="1152777" cy="0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5463EA5-AF31-0D9E-6D31-510FBBE6421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 amt="85000"/>
          </a:blip>
          <a:srcRect t="1002"/>
          <a:stretch/>
        </p:blipFill>
        <p:spPr>
          <a:xfrm>
            <a:off x="10127310" y="2510107"/>
            <a:ext cx="1390536" cy="96751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86D6AF-7983-AFC7-2AF6-C7C286139814}"/>
              </a:ext>
            </a:extLst>
          </p:cNvPr>
          <p:cNvCxnSpPr>
            <a:cxnSpLocks/>
          </p:cNvCxnSpPr>
          <p:nvPr/>
        </p:nvCxnSpPr>
        <p:spPr>
          <a:xfrm>
            <a:off x="8573213" y="1915455"/>
            <a:ext cx="0" cy="594652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351384-A650-A323-C25D-7E084D1F8D4C}"/>
              </a:ext>
            </a:extLst>
          </p:cNvPr>
          <p:cNvCxnSpPr>
            <a:cxnSpLocks/>
          </p:cNvCxnSpPr>
          <p:nvPr/>
        </p:nvCxnSpPr>
        <p:spPr>
          <a:xfrm>
            <a:off x="10951025" y="1887019"/>
            <a:ext cx="0" cy="594652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8E25A1E-85E6-B0AB-464F-822AA37C23F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" r="7337" b="8361"/>
          <a:stretch/>
        </p:blipFill>
        <p:spPr>
          <a:xfrm>
            <a:off x="6697153" y="1770197"/>
            <a:ext cx="4253872" cy="14525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C96DDA-87DA-4D44-4C80-4FA58E42DAED}"/>
              </a:ext>
            </a:extLst>
          </p:cNvPr>
          <p:cNvCxnSpPr>
            <a:cxnSpLocks/>
          </p:cNvCxnSpPr>
          <p:nvPr/>
        </p:nvCxnSpPr>
        <p:spPr>
          <a:xfrm>
            <a:off x="8671185" y="4007397"/>
            <a:ext cx="0" cy="594652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EA0EA2-7967-27F3-7349-A73D22A8118D}"/>
              </a:ext>
            </a:extLst>
          </p:cNvPr>
          <p:cNvCxnSpPr>
            <a:cxnSpLocks/>
          </p:cNvCxnSpPr>
          <p:nvPr/>
        </p:nvCxnSpPr>
        <p:spPr>
          <a:xfrm>
            <a:off x="10951025" y="4007397"/>
            <a:ext cx="0" cy="594652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570219-FB52-C412-147B-98D436D6B985}"/>
              </a:ext>
            </a:extLst>
          </p:cNvPr>
          <p:cNvSpPr txBox="1"/>
          <p:nvPr/>
        </p:nvSpPr>
        <p:spPr>
          <a:xfrm>
            <a:off x="7888352" y="5841854"/>
            <a:ext cx="372553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Local and Homegrown Foods</a:t>
            </a:r>
          </a:p>
        </p:txBody>
      </p:sp>
      <p:pic>
        <p:nvPicPr>
          <p:cNvPr id="24" name="Graphic 23" descr="Crops with solid fill">
            <a:extLst>
              <a:ext uri="{FF2B5EF4-FFF2-40B4-BE49-F238E27FC236}">
                <a16:creationId xmlns:a16="http://schemas.microsoft.com/office/drawing/2014/main" id="{8622B87E-5CD9-A2AD-7459-EDB6A63A6E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6365" y="4774679"/>
            <a:ext cx="1021508" cy="1021508"/>
          </a:xfrm>
          <a:prstGeom prst="rect">
            <a:avLst/>
          </a:prstGeom>
        </p:spPr>
      </p:pic>
      <p:pic>
        <p:nvPicPr>
          <p:cNvPr id="25" name="Graphic 24" descr="Plant outline">
            <a:extLst>
              <a:ext uri="{FF2B5EF4-FFF2-40B4-BE49-F238E27FC236}">
                <a16:creationId xmlns:a16="http://schemas.microsoft.com/office/drawing/2014/main" id="{41A1767F-82BE-3051-4AC4-092D194F1C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94280" y="4796996"/>
            <a:ext cx="1021508" cy="102150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76B8DC-72B4-2A6E-668E-31FC825797CD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1351616" y="5451031"/>
            <a:ext cx="6621952" cy="0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0B5E9553-0F17-B763-9072-FBCDC166CC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9878" t="21032" r="8056" b="21032"/>
          <a:stretch/>
        </p:blipFill>
        <p:spPr>
          <a:xfrm rot="21159347">
            <a:off x="2668726" y="4933907"/>
            <a:ext cx="674231" cy="4759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982F8E-F90C-9997-AA6E-178ED6B8923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2" r="44216" b="4711"/>
          <a:stretch/>
        </p:blipFill>
        <p:spPr>
          <a:xfrm rot="16200000">
            <a:off x="71175" y="4095068"/>
            <a:ext cx="2560881" cy="1510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56832C-B98E-94FD-8787-DA4D30470E9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3906" t="38925" r="41865" b="26997"/>
          <a:stretch/>
        </p:blipFill>
        <p:spPr>
          <a:xfrm rot="16200000">
            <a:off x="3431690" y="3246156"/>
            <a:ext cx="1112309" cy="54017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BD7B75-BA63-E5DB-138E-2BC4C66F2F5D}"/>
              </a:ext>
            </a:extLst>
          </p:cNvPr>
          <p:cNvCxnSpPr>
            <a:cxnSpLocks/>
          </p:cNvCxnSpPr>
          <p:nvPr/>
        </p:nvCxnSpPr>
        <p:spPr>
          <a:xfrm>
            <a:off x="4000496" y="3809191"/>
            <a:ext cx="3520023" cy="20129"/>
          </a:xfrm>
          <a:prstGeom prst="straightConnector1">
            <a:avLst/>
          </a:prstGeom>
          <a:ln w="25400">
            <a:solidFill>
              <a:schemeClr val="accent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67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66</Words>
  <Application>Microsoft Macintosh PowerPoint</Application>
  <PresentationFormat>Widescreen</PresentationFormat>
  <Paragraphs>24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Carignan, Courtney</dc:creator>
  <cp:lastModifiedBy>稼禾 田</cp:lastModifiedBy>
  <cp:revision>7</cp:revision>
  <dcterms:created xsi:type="dcterms:W3CDTF">2025-08-04T18:07:14Z</dcterms:created>
  <dcterms:modified xsi:type="dcterms:W3CDTF">2025-08-15T18:48:02Z</dcterms:modified>
</cp:coreProperties>
</file>